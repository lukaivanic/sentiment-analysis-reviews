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01148015f439e" /><Relationship Type="http://schemas.openxmlformats.org/officeDocument/2006/relationships/extended-properties" Target="/docProps/app.xml" Id="R2f0daa5024e14668" /><Relationship Type="http://schemas.openxmlformats.org/officeDocument/2006/relationships/officeDocument" Target="/ppt/presentation.xml" Id="R309d17c61a0748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b2f8d083c4125"/>
  </p:sldMasterIdLst>
  <p:notesMasterIdLst>
    <p:notesMasterId xmlns:r="http://schemas.openxmlformats.org/officeDocument/2006/relationships" r:id="Rb6375ceda7af40d2"/>
  </p:notesMasterIdLst>
  <p:sldIdLst>
    <p:sldId xmlns:r="http://schemas.openxmlformats.org/officeDocument/2006/relationships" id="256" r:id="Re8f484bd90b04a14"/>
    <p:sldId xmlns:r="http://schemas.openxmlformats.org/officeDocument/2006/relationships" id="257" r:id="R7887a47f88f04987"/>
    <p:sldId xmlns:r="http://schemas.openxmlformats.org/officeDocument/2006/relationships" id="258" r:id="R8dcaadc201a54671"/>
    <p:sldId xmlns:r="http://schemas.openxmlformats.org/officeDocument/2006/relationships" id="259" r:id="R797d6b4a7ad04924"/>
    <p:sldId xmlns:r="http://schemas.openxmlformats.org/officeDocument/2006/relationships" id="260" r:id="R58b75066c7ff405a"/>
    <p:sldId xmlns:r="http://schemas.openxmlformats.org/officeDocument/2006/relationships" id="261" r:id="R009cb80dd0524112"/>
    <p:sldId xmlns:r="http://schemas.openxmlformats.org/officeDocument/2006/relationships" id="262" r:id="R82f6542dbfef4c92"/>
    <p:sldId xmlns:r="http://schemas.openxmlformats.org/officeDocument/2006/relationships" id="263" r:id="R3ea3310cb7c54d48"/>
    <p:sldId xmlns:r="http://schemas.openxmlformats.org/officeDocument/2006/relationships" id="264" r:id="Rf2f518100f284b82"/>
    <p:sldId xmlns:r="http://schemas.openxmlformats.org/officeDocument/2006/relationships" id="265" r:id="R2e7b84a0d45447f6"/>
    <p:sldId xmlns:r="http://schemas.openxmlformats.org/officeDocument/2006/relationships" id="266" r:id="R2f374b878068449a"/>
    <p:sldId xmlns:r="http://schemas.openxmlformats.org/officeDocument/2006/relationships" id="267" r:id="R3da9148271a644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1aaee3de244e3" /><Relationship Type="http://schemas.openxmlformats.org/officeDocument/2006/relationships/slideMaster" Target="/ppt/slideMasters/slideMaster1.xml" Id="R02db2f8d083c4125" /><Relationship Type="http://schemas.openxmlformats.org/officeDocument/2006/relationships/notesMaster" Target="/ppt/notesMasters/notesMaster1.xml" Id="Rb6375ceda7af40d2" /><Relationship Type="http://schemas.openxmlformats.org/officeDocument/2006/relationships/presProps" Target="/ppt/presProps.xml" Id="R54d6bc102a2949fe" /><Relationship Type="http://schemas.openxmlformats.org/officeDocument/2006/relationships/viewProps" Target="/ppt/viewProps.xml" Id="Rb1d1d53920bf407d" /><Relationship Type="http://schemas.openxmlformats.org/officeDocument/2006/relationships/tableStyles" Target="/ppt/tableStyles.xml" Id="Rbed58818c5854c75" /><Relationship Type="http://schemas.openxmlformats.org/officeDocument/2006/relationships/slide" Target="/ppt/slides/slide1.xml" Id="Re8f484bd90b04a14" /><Relationship Type="http://schemas.openxmlformats.org/officeDocument/2006/relationships/slide" Target="/ppt/slides/slide2.xml" Id="R7887a47f88f04987" /><Relationship Type="http://schemas.openxmlformats.org/officeDocument/2006/relationships/slide" Target="/ppt/slides/slide3.xml" Id="R8dcaadc201a54671" /><Relationship Type="http://schemas.openxmlformats.org/officeDocument/2006/relationships/slide" Target="/ppt/slides/slide4.xml" Id="R797d6b4a7ad04924" /><Relationship Type="http://schemas.openxmlformats.org/officeDocument/2006/relationships/slide" Target="/ppt/slides/slide5.xml" Id="R58b75066c7ff405a" /><Relationship Type="http://schemas.openxmlformats.org/officeDocument/2006/relationships/slide" Target="/ppt/slides/slide6.xml" Id="R009cb80dd0524112" /><Relationship Type="http://schemas.openxmlformats.org/officeDocument/2006/relationships/slide" Target="/ppt/slides/slide7.xml" Id="R82f6542dbfef4c92" /><Relationship Type="http://schemas.openxmlformats.org/officeDocument/2006/relationships/slide" Target="/ppt/slides/slide8.xml" Id="R3ea3310cb7c54d48" /><Relationship Type="http://schemas.openxmlformats.org/officeDocument/2006/relationships/slide" Target="/ppt/slides/slide9.xml" Id="Rf2f518100f284b82" /><Relationship Type="http://schemas.openxmlformats.org/officeDocument/2006/relationships/slide" Target="/ppt/slides/slide10.xml" Id="R2e7b84a0d45447f6" /><Relationship Type="http://schemas.openxmlformats.org/officeDocument/2006/relationships/slide" Target="/ppt/slides/slide11.xml" Id="R2f374b878068449a" /><Relationship Type="http://schemas.openxmlformats.org/officeDocument/2006/relationships/slide" Target="/ppt/slides/slide12.xml" Id="R3da9148271a6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fd348920e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be2f2628e4ce1" /><Relationship Type="http://schemas.openxmlformats.org/officeDocument/2006/relationships/notesMaster" Target="/ppt/notesMasters/notesMaster1.xml" Id="R4c0202a1104e4c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177be83084d70" /><Relationship Type="http://schemas.openxmlformats.org/officeDocument/2006/relationships/notesMaster" Target="/ppt/notesMasters/notesMaster1.xml" Id="R2433c8e8f1fa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420ee119a4c45" /><Relationship Type="http://schemas.openxmlformats.org/officeDocument/2006/relationships/notesMaster" Target="/ppt/notesMasters/notesMaster1.xml" Id="R9b69f91de4e8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9d508bb934029" /><Relationship Type="http://schemas.openxmlformats.org/officeDocument/2006/relationships/notesMaster" Target="/ppt/notesMasters/notesMaster1.xml" Id="R7637c814e7f3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c5038117a44068" /><Relationship Type="http://schemas.openxmlformats.org/officeDocument/2006/relationships/notesMaster" Target="/ppt/notesMasters/notesMaster1.xml" Id="R7b62a9792c64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d2ba6276a2494b" /><Relationship Type="http://schemas.openxmlformats.org/officeDocument/2006/relationships/notesMaster" Target="/ppt/notesMasters/notesMaster1.xml" Id="Rf4408a63ace3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c96a795e24e25" /><Relationship Type="http://schemas.openxmlformats.org/officeDocument/2006/relationships/notesMaster" Target="/ppt/notesMasters/notesMaster1.xml" Id="R558402788f5e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80e7211d774f97" /><Relationship Type="http://schemas.openxmlformats.org/officeDocument/2006/relationships/notesMaster" Target="/ppt/notesMasters/notesMaster1.xml" Id="R2c51a4af7f664c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ed19db566c4485" /><Relationship Type="http://schemas.openxmlformats.org/officeDocument/2006/relationships/notesMaster" Target="/ppt/notesMasters/notesMaster1.xml" Id="R371e5c596d6348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bd05a5f0b44bcd" /><Relationship Type="http://schemas.openxmlformats.org/officeDocument/2006/relationships/notesMaster" Target="/ppt/notesMasters/notesMaster1.xml" Id="Rfd648e2574f349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e0c28a4394e33" /><Relationship Type="http://schemas.openxmlformats.org/officeDocument/2006/relationships/notesMaster" Target="/ppt/notesMasters/notesMaster1.xml" Id="Reee8310a2b5345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b0b71ee0454199" /><Relationship Type="http://schemas.openxmlformats.org/officeDocument/2006/relationships/notesMaster" Target="/ppt/notesMasters/notesMaster1.xml" Id="R71d066b659ad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03f681dfa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417d5d3b24146" /><Relationship Type="http://schemas.openxmlformats.org/officeDocument/2006/relationships/slideLayout" Target="/ppt/slideLayouts/slideLayout1.xml" Id="R949775561f0542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775561f0542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6de9827fa4e4b" /><Relationship Type="http://schemas.openxmlformats.org/officeDocument/2006/relationships/notesSlide" Target="/ppt/notesSlides/notesSlide1.xml" Id="R85965e56e4aa40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c139d468349f3" /><Relationship Type="http://schemas.openxmlformats.org/officeDocument/2006/relationships/notesSlide" Target="/ppt/notesSlides/notesSlide2.xml" Id="R8adf9a07ff8c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a7aa59c2540cf" /><Relationship Type="http://schemas.openxmlformats.org/officeDocument/2006/relationships/notesSlide" Target="/ppt/notesSlides/notesSlide3.xml" Id="R2d4081c68ab146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55e35ebb4407" /><Relationship Type="http://schemas.openxmlformats.org/officeDocument/2006/relationships/image" Target="/ppt/media/image.png" Id="R5df034ee0d9d462e" /><Relationship Type="http://schemas.openxmlformats.org/officeDocument/2006/relationships/notesSlide" Target="/ppt/notesSlides/notesSlide4.xml" Id="R2c8db7adc698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82dc4679a4e8b" /><Relationship Type="http://schemas.openxmlformats.org/officeDocument/2006/relationships/image" Target="/ppt/media/image2.png" Id="Rcce5634058174035" /><Relationship Type="http://schemas.openxmlformats.org/officeDocument/2006/relationships/notesSlide" Target="/ppt/notesSlides/notesSlide5.xml" Id="R0daeac74002a44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1f14ac91c4deb" /><Relationship Type="http://schemas.openxmlformats.org/officeDocument/2006/relationships/notesSlide" Target="/ppt/notesSlides/notesSlide6.xml" Id="Re5d081c5c9ea4c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3d8a6cd0d46b3" /><Relationship Type="http://schemas.openxmlformats.org/officeDocument/2006/relationships/notesSlide" Target="/ppt/notesSlides/notesSlide7.xml" Id="Rf83aa8e0c669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c26254ee345c0" /><Relationship Type="http://schemas.openxmlformats.org/officeDocument/2006/relationships/notesSlide" Target="/ppt/notesSlides/notesSlide8.xml" Id="R62b2c4bcd4e642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851cd33f94b16" /><Relationship Type="http://schemas.openxmlformats.org/officeDocument/2006/relationships/notesSlide" Target="/ppt/notesSlides/notesSlide9.xml" Id="Re91e3edc88744b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ce6dd6e8c4d2b" /><Relationship Type="http://schemas.openxmlformats.org/officeDocument/2006/relationships/image" Target="/ppt/media/image3.png" Id="R0a54bd492152432c" /><Relationship Type="http://schemas.openxmlformats.org/officeDocument/2006/relationships/notesSlide" Target="/ppt/notesSlides/notesSlide10.xml" Id="Rbd5d5921c5624c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263ff96a4928" /><Relationship Type="http://schemas.openxmlformats.org/officeDocument/2006/relationships/notesSlide" Target="/ppt/notesSlides/notesSlide11.xml" Id="Rd71962ea08a842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7e14a34074a3c" /><Relationship Type="http://schemas.openxmlformats.org/officeDocument/2006/relationships/notesSlide" Target="/ppt/notesSlides/notesSlide12.xml" Id="Rec611dff9fcd45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01DEA-01FD-428F-A11D-12E8364F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5C446-5AF1-48AD-8AC7-4BFC893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827"/>
              </a:gs>
              <a:gs pos="58000">
                <a:srgbClr val="1E3A8A"/>
              </a:gs>
              <a:gs pos="100000">
                <a:srgbClr val="064E3B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C871A-A72C-49A9-8CA2-97F0637A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Analiza sentimenta recenzija filmova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3826-560E-4031-BA38-0EC00126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TF-IDF klasifikatori, ensemble modeli i dodatno transformer prosirenje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E2607-31B3-4AE9-86EA-86F1D01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0CD16-4D25-40FC-A31D-25E1527A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5878D-3A2A-44C0-B5F1-977A01A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Best classical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9C6BD-636D-41B7-BF5E-8D122405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LinearSVC 0.9150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F4E4-A296-4275-973A-B8ADA5F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D4AD-2F78-4AC8-B51E-7FA80C9A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4AE02-F9AB-4849-B603-6CB64CB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337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Best ensemble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A15E2-4DD4-45FD-B014-AB750CEA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147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Voting 0.9107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24684-4189-4BB6-B814-2BCA54F2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8D103-485E-4EF2-8076-0C2FFD81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A92CA-B3FD-4FEE-85FE-F242603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33725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Best extension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3CDA1-9206-40E2-9170-2EA94E47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1472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DeBERTa 0.9564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D44FD-350F-4300-A12A-C8B9BFA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Projekt iz kolegija Primjena umjetne inteligencije | Luka Ivanic | 2026</a:t>
            </a:r>
          </a:p>
        </p:txBody>
      </p:sp>
    </p:spTree>
    <p:extLst>
      <p:ext uri="{BB962C8B-B14F-4D97-AF65-F5344CB8AC3E}">
        <p14:creationId xmlns:p14="http://schemas.microsoft.com/office/powerpoint/2010/main" val="13572103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F40F8-AEF6-4112-AC20-DF1678E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35F3D-81D1-408C-8C45-01912272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E7497-702D-4750-A884-8900305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 je profesor trazio?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F708E-5154-4B78-8833-7315764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8996E-2983-49DD-85C2-BDD3C3CD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4CEB1-094E-4925-854B-D4ADCC04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287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Tema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A1F50-9FDE-4D35-8192-99C3FD37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001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Analiza sentimenta recenzija: tekst klasifikacija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C7D1D-7032-4627-AD1C-573212A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FB837-F905-4A40-BEFD-3146715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Prikaz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95ED1-61D0-4C69-9760-4FA0A85F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240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TF-IDF znacajke nad IMDb recenzijama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83A75-537D-47FF-A1C2-681D1793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ADDA6-192C-4B34-8616-EE7AB74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Modeli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329CA-1864-4AB7-9C08-29BE740B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 propisanih klasifikatora + usporedba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14EB6-BC93-47F9-8DE5-65C351B2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4BDBF-FF16-4327-94B8-AFCB28C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Validacija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5FCBA-83E8-4FA1-B29E-F803E049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RandomizedSearchCV s unakrsnom validacijom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472B7-0793-471A-A7C3-9BF08AB7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24EE8-260D-4C22-9DF7-65BA217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24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Metrike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B4605-BAA9-4CC7-89AC-65990B8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ACC/BACC, Precision/Recall/F1, ROC-AUC, PR-AUC, MCC, log-loss, CM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9F379-6AF5-49F7-AE90-196D2563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88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0AE67-DE16-46C6-966D-02E6AE0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482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23D87-1F32-4C45-A15B-89951957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VotingClassifier ili StackingClassifier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AAF41-A3F0-4057-8547-D23FF8B1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Dodatni transformer dio je istrazivacko prosirenje, ne zamjena za obavezni TF-IDF dio.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86E35-3680-4DE3-871E-6095396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80A03-14B4-4A07-B13B-1388570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379747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878DF-2A2F-452B-A1D5-6D7AF9C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6139-D7BA-4060-A8DA-AC8C6C58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7F213-F122-4B19-B461-B3E5A9F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Podaci i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709B3-B595-4B93-BDD4-64C4FB5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ABCC4-B904-4F4D-B863-0A787DF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25BDC-8973-4A9C-A876-240BA09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7785C-5B5B-4760-B201-99731DF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906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Ukupno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C3978-D01B-42FD-A7FB-C2F245C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50,000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96338-ED2C-4C30-9FF1-C0478DC8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57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B53D5-C6CE-476D-A44F-626556FE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573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802D0-B139-49B4-A689-76C44149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906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0717-24BC-4810-BB87-59EB953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7165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40,000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B0D66-3E49-4955-9D81-E5641848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1814B-55D4-4361-A55B-A92B46A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35569-B5E6-4BA1-8536-4070F96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906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F39DC-6D86-434B-A5A2-0B5DBFF6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FCBFE-C4ED-43C2-A05D-BE0C65F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57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8844C-3E87-4617-B372-829056A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573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A8D77-3183-4DD8-81F6-034E9CEE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906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Klase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8E44E-EB9E-4361-9819-E2DC7DC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7165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50 / 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646E5-393A-4FF8-B232-FE6BD9D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AD381-B1C3-4D57-9F96-042B990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Primarni eksperimenti koriste Kaggle IMDb 50K Movie Reviews CSV.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BDBF2-DC90-4C2D-8F10-6427E95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096C4-5FD1-430C-B9DA-1C014FE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Stanford IMDb Large Movie Review Dataset je takoder preuzet kao drugi izvor naveden u PDF-u.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EB850-3896-4203-AEAE-5CA3D61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39B4E-0CB5-4FAF-8E76-B45A47F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Nema rucnog labeliranja: sentiment oznake su vec u datasetu.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CD735-E2B6-461C-A30F-63B7E0BE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CAC67-D8AC-4A00-9D96-64B377B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Stratificirani 80/20 split s random_state=42 daje 5,000 pozitivnih i 5,000 negativnih testnih primjera.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8F624-6F42-43F0-93E8-A774BFA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28585F-5D8F-4BFB-A733-062AAAA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5560666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3C33C-B602-4599-A85C-E025AE2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CC2AA-CB51-4572-8197-8CF908A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BF75-5425-4717-BDF3-6C28650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Pipeline: tekst do predikcije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C852E-91C9-4473-B706-C2FB0DC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034ee0d9d462e"/>
          <a:stretch xmlns:a="http://schemas.openxmlformats.org/drawingml/2006/main"/>
        </p:blipFill>
        <p:spPr>
          <a:xfrm xmlns:a="http://schemas.openxmlformats.org/drawingml/2006/main">
            <a:off x="2000250" y="990600"/>
            <a:ext cx="81915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EF257-C946-43DE-8CC0-50936BC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Vokabular se uci samo na trening skupu; testni tekstovi se transformiraju istim naucenim TF-IDF vektorizatorom.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0FFC7-4784-467E-ADFC-DCC1FD8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712A2-338E-44C0-8476-93658E6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404448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D9039-7BBC-44B2-9BA4-DE574D5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15999-FF75-4E28-AEE7-EFE032E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8B2BC-E08B-4582-B107-2EF07C40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Zasto linearni modeli pobjeduju na TF-IDF-u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0423D-4E6D-4C59-9984-435B5EE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5634058174035"/>
          <a:stretch xmlns:a="http://schemas.openxmlformats.org/drawingml/2006/main"/>
        </p:blipFill>
        <p:spPr>
          <a:xfrm xmlns:a="http://schemas.openxmlformats.org/drawingml/2006/main">
            <a:off x="2681288" y="933450"/>
            <a:ext cx="6829425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DF752-C1A3-4F38-B050-9AEF0A4D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994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LinearSVC je najbolji klasicni model: ACC 0.9150, F1 0.9152, ROC-AUC 0.9720.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10FED-BF43-4114-BDCF-F6448348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270AF-A625-426B-8563-AD5BAFF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5593708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95C5E-6FEA-40B0-A9BB-0B84B1D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AA0EA-2D18-469D-B9C8-F698A460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FD9D4-7615-4823-87D5-915B77D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Metrike nisu samo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DD469-CF70-415E-B920-2F299D7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0679A-83C5-40B7-8348-4F6E768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62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AF701-47C8-4513-890D-577F9DA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Metrika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5C13-3038-4B0F-9685-C640F87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1B51-DBE8-41A7-A975-C9CD871E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3825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Sto govori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14F64-AE06-4261-A908-86A48562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859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79D50-6D7B-4D62-AA27-C5AE0BA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621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ACC / BACC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0C962-D099-4C27-BF9F-53C8E38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A4C67-3811-40F7-BF8B-A8CEBBE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6210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tocnost i balansirana tocnost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E7BEB-5F29-42FD-BE72-C403A37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06A74-86CF-4455-9103-D968481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Precision / Recall /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EED79-4E29-4287-A548-20CE5B51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4F653-91C5-4295-A1A0-AFA26477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kvaliteta pozitivnih predikcija i pronalazenje pozitivnih primjera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9F4D7-76AB-4D0E-BF05-B56B670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47D3C-6C99-4C37-927F-75946CF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ROC-AUC / PR-AUC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1FA0A-E97C-4720-8E20-2EFB374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B1BA3-692E-4F64-817A-2E62AE70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rangiranje i kvaliteta pod razlicitim pragovima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41638-CD7B-4A9A-BEDE-B445516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D0022-7BD3-4BA7-ADA2-159209DC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5B689-29B0-4FC3-A54D-AFEE2FE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A7A90-8A9C-4F3A-8F81-BA7207B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korelacijska mjera za binarnu klasifikaciju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DB42F-2B60-420D-A8DE-EFEC570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87C1F-327E-4658-9973-9BA1F872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Log-loss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5958D-AF9D-4952-9839-B777AFB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9FC28-F03B-42E3-A335-82778CEA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samo za modele s probabilistickim izlazom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6C893-5EBA-45AD-9316-4CBE98A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00D36-1EB6-4D22-839F-17DEF8B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13F24-92AB-4384-8648-B191C1E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EFC47-DF3C-4E31-9029-E64D0CF7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737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TN, FP, FN, TP na 10k testnih primjera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345FB-494F-46E3-B5AF-8477A79C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Za LinearSVC, hinge-SGD, PassiveAggressive i hard voting log-loss nije prikazan jer ti izlazi nisu kalibrirane vjerojatnosti.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DF262-91A3-429C-A58C-54F7ECA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/ 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D339E5-56BA-46E7-A930-C5C4AE5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5300886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F1158-C88B-4E9E-8503-6C0934A4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A7FF2-AFB5-4822-A517-D1FD54B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D1D6D-E132-4343-BB80-86B91F1B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Klasicni TF-IDF rezultati: linearni modeli vode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EBFE-0CDC-4616-800B-B55A0C00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79638-F7CC-4E77-B335-369DFB0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LinearSVC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829A0-9354-4B7D-A105-F97B84B4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906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42C7-88F5-4EF8-80B6-16C8719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90625"/>
            <a:ext cx="580429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2B8DE-25AC-493F-9FB6-B9562FE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43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B55C3-22B8-4934-B538-4A0E572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SGDClassifier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F995A-2CEF-4E01-8BFB-97C7989E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954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C0FD5-E27F-4D34-9F3B-D9A23A8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95450"/>
            <a:ext cx="550247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E8FB3-4D82-484F-860C-14C5BDD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478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0654C-0154-4F36-82AD-7A5445F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LogisticRegression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1E159-7B2D-4207-9A6E-F0552A99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02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AC126-DF8A-42FA-8EFD-98093ED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0275"/>
            <a:ext cx="537864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62A09-F16B-4251-95C4-BA7CD128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0.9095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31E68-CECA-4648-90F1-4C507C4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PassiveAggressive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E49DD-955F-4FAC-8EDB-969BC4A4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21ABC-B0E4-45E3-9C99-C9C271CE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512325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B7917-6B0F-464B-9701-B3CEE3D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574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0.9062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53A11-2E9C-43BA-9EBE-6272BB4C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6E531-7695-4840-8A5A-A70F09E4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099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AEE78-C30F-4195-A48E-5AA4D75E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09925"/>
            <a:ext cx="400883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C148B-4C59-4EFE-AA8E-34F9918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62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0.8918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841FE-1831-44AF-9EA9-D6238B3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MultinomialNB tuned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9263A-853B-4E30-A143-68329997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B574D-EEB5-4BB3-AD07-42DA42D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51353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90B1D-F14B-4B2F-B246-9742E0B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671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0.8854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BBCBB-BBC4-4E81-9781-2B9FB9A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ExtraTrees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F55B6-AB63-4622-ABB4-288D43F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95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DA6D2-F380-4585-A070-F7CE8A0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9575"/>
            <a:ext cx="27009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D3B327-344D-49B4-A185-2629061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719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0.8749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5C598-C17C-4DE5-A2DB-292E60A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RandomForest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8CAD0-DBD9-4C88-87B8-8EC73AA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244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16869-C7DA-49EF-BD43-2925389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24400"/>
            <a:ext cx="180320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11827-051D-4A6E-BF99-827BCC20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767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0.8633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394BE5-6E0C-40CE-B68F-1ED188E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EAADED-6812-48C6-8DED-07C4A13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292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B0B07-0462-4369-93C1-FB80793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29225"/>
            <a:ext cx="8435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E8B46-CB97-431B-B2FF-9786F99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816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0.8509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99E6C-DDD6-44C9-B965-D9BFFE81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Najbolji klasicni model: LinearSVC, ACC 0.9150, F1 0.9152, ROC-AUC 0.9720.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4011B-A4C7-4155-902C-13A7FA9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/ 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086B2C-3C37-4EBB-A356-9C81FB34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7101591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1BA2D-8B05-431B-8455-A7A5E65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17EB1-24EF-40B7-A3B5-A6FCB39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F99AF-70AA-4DFE-9717-296850A3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Najbolji klasicni model: LinearSVC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61563-424F-4935-A2F2-D99A2F7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C71AC-16DE-4FCE-8057-78AB739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4391D-C7F1-4A4A-AC81-3AAA889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43B33-8E7D-49AA-8495-ACCEC3E7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7160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876DA-7590-49BE-9243-EA902F7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2165A-D952-4795-AC5B-1902682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834E4-D888-45B5-AF88-9ACFBD5E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07048-FC2B-4A3F-B3F2-4349EC9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7160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8B08C-E545-44FF-A075-BE9D1D6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0.9152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2045C-278B-4D74-AD67-BA516081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38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3A880-E5FD-4ADB-A032-60D923D8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38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5E520-2F73-4D4B-9553-71E75DA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7160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1B40C-56F9-4761-BD90-11CD2D1D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0.9720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33409-DE06-4C48-AE56-3F866D2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38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42373-C520-48A4-B320-9DB2CA3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38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5A6D2-9E46-4A84-B62C-8BBD094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7160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MCC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322DC-E1B3-4374-A9EE-6B6100C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0.8300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5EDDE-5527-4B99-BEE7-42C34BD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EFC59-F6D5-41F8-9471-A001EF51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D742E-FCC6-4EB3-B6C1-AB8BDE8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528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Actual / Pred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25E02-2309-4708-9375-153B4F9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4C54D-348F-44E6-B58F-B4581BB9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528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83747-80BA-4D46-B356-FF338633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6EA5E-3955-4C98-9394-2AE4B82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28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FAFDE-9C9E-4444-BBE5-DECC0A47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D85F4-4FD6-4524-813A-83EB336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76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5450C-AAEB-44AB-80AD-217E21E6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004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57699D-1326-4AB7-8317-B8971554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76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4566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77980-2FC3-46F5-9FDA-F433AF16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004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16935-8594-4AF7-8F69-DFA04F8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76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434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B4C69-286E-4675-940F-92A5925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D64847-0A19-41CC-89AE-73B79BA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DB47C-76FE-457C-849B-5FB7E4B7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3D8CD7-F7BF-4769-A888-C024FAA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005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53A1A8-4DD6-4970-8CCB-D789706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D06511-380E-4F2E-9DB6-E669205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005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4584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6F49D1-3E69-4E04-A440-178FE2E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850 gresaka na 10,000 testnih recenzija. Pogreske su uravnotezene: 434 FP i 416 FN.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CA5067-0424-4A9E-8C8B-52514092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/ 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23184E-5EDB-4403-A339-BBB82554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7537888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A2DB2-D97C-4DFB-BE08-5E75F95C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B4208-B85F-48F1-920F-6E153EA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C3802-F3AC-412D-9E8C-5AA085A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Zavrsni ensemble: implementiran, ali nije pobjednik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311AF-F40A-4E8E-A60A-7439F68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F20C9-0A97-4F74-BED8-A307832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5451B-3AF9-4533-8287-57FB5E1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6682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C7428-9757-47C6-A3BA-C6120454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90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39A04-6B87-461D-92EC-C475833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66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18BFB-3702-4441-B83A-0A41221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90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EDD69-ADC7-4A85-ADD2-12552E75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66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2D1A8-A91F-4AD0-A6BC-3D0F3F1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90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938D2-1B26-4C7F-A324-65DD1A7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266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Log-loss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40E0E-0BE5-48DF-BE16-35073F81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A9789-E799-4EEB-B76E-F0B4645A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 Voting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91CC2-C5CB-4559-9D78-0B1C82E2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144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17D33-0386-457C-8015-2F14300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9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0.9095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57F26-5AA9-4AF4-9D5E-0A87BD41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144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D5C3F-FD6E-4B73-B911-AAADA2B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9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4FCF5-F2BB-4AD0-9058-60B13B1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1DF03-B317-4C73-9CC4-59D39D7D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9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0.2654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A280B-1F08-4E49-9A4B-2125755E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6794F-D725-40F8-9924-6CCD905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1452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 Voting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3E3D2-0D78-4433-B056-2DC9549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383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D1ECD-42CD-4C76-B0D0-9669D6F8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145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C1606-98BE-43A7-9E72-A7C66248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383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BD396-3CE8-4454-B5AC-E7C80D9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145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85F2C-F908-4E57-88EF-721EBD69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A94DB-0389-4A3C-BE73-7C36AE04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145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4EE9A-5A2F-47F3-A661-5D6A8EC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CE330-51AA-4FC3-8C76-00AD9935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Stacking prefit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291F5-ECBC-4E69-92F4-0D7CA57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621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DC43FB-3917-419F-9E70-4A583760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383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0.9099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CF9646-E357-4024-BE2E-F684E04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621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82808-5BA5-4FD1-96B1-90B4B08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5C495-FA91-4026-B37B-61BFC6A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621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DE677-07E9-4EDF-BEE5-64E45BE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383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0.4079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9B1455-3371-4708-87CA-A470A9DB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91C73-0CE8-46A1-BFB3-36E039C8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 Voting je najcistiji zavrsni ensemble jer daje probabilisticke metrike.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F60081-5539-4AFD-A674-99D9894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176546-C07C-4648-B114-C7851732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 Voting ima malo bolju tocnost, ali nema standardni log-loss.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10B484-8332-4961-B079-56F515C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9D0CB9-C2CC-4880-8D6E-808A1760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LinearSVC ostaje najbolji klasicni pojedinacni model.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FC1E7E-0F33-4E76-96D4-27AED6F8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Zakljucak: ensemble zadovoljava zahtjev kolegija, ali rezultati ne smiju biti uljepsani - u ovom skupu jednostavan linearni model radi bolje.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C0280E-1F99-4664-9CBC-4CA9A3A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 / 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D2217F-CFA0-431C-8B6B-2E174709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7434015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26237-BEB7-4B4E-8CB3-62D0BEDB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9927-E78A-4B4C-A970-240E5F6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25D7B-4E94-4B89-8290-ED385020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Dodatno: transformer modeli mijenjaju plafon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2BA61-E30E-47BC-9594-9B2A53F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4bd492152432c"/>
          <a:stretch xmlns:a="http://schemas.openxmlformats.org/drawingml/2006/main"/>
        </p:blipFill>
        <p:spPr>
          <a:xfrm xmlns:a="http://schemas.openxmlformats.org/drawingml/2006/main">
            <a:off x="495300" y="1112130"/>
            <a:ext cx="5810250" cy="31954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AA746-A0D8-4F33-8130-A63DEA91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LinearSVC TF-IDF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6DCC-67EB-4770-B026-C0C8432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001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05BEE-4B49-4C3B-934F-38D7EE4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00175"/>
            <a:ext cx="109764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A6435-0009-4F0F-AE8D-A86FB3B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525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C1B66-CD04-4D5E-858B-8B81A911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Tiny transformer od nule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3D4AD-7E57-425D-B933-600339F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28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A4084-A251-4621-90F6-50F552A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28825"/>
            <a:ext cx="3572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60A52-64B7-497B-9C46-F7B60306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81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0.8779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C9E1D-B775-4B50-A018-D06BD0B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DistilBERT fine-tune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A8EC0-B9D6-4541-B5E1-54D39F5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574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49F1A-4587-4895-B0ED-A1C9A9C6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57475"/>
            <a:ext cx="15347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E7641-E014-45D1-920F-5125A25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0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0.9369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D5573-3145-45C0-8C78-49436A21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DeBERTa-v3-small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9C08C-A249-49BC-8233-591771E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solidFill>
              <a:srgbClr val="E5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EB95A-48E1-4BC3-B614-F0860D25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192386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A715F-B3BE-4012-AA35-F7BA873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0.9564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4FFC3-4F76-4876-8C4B-982674D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Predtrenirani jezik je kljuc: mali transformer od nule ne pobjeduje TF-IDF, ali DeBERTa smanjuje broj gresaka s 850 na 436.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9B075-1EE5-4842-925D-6143FF2B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 /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5DC7E-3AAC-407C-9092-1C0DCBB3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391163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3EF604-194E-4BB3-94FC-FF7F9805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50CB9-06C7-45B1-B1A0-DCED0E3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CA1A-4F2C-4CE8-9BE4-498BDE0A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 smo naucili?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05139-97A4-4971-B8E5-B03D2CF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0F91-748C-4219-8C79-C0BB9F8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173C-082E-44F1-A5EF-B5FEBF70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811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TF-IDF + linearni modeli su iznenadujuce jaki za IMDb sentiment.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21C87-1210-4484-85B1-CFEE646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36538-9A21-42E8-B6FC-0A52199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Tree/boosting modeli nisu automatski najbolji na rijetkim tekstualnim vektorima.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4E41A-D3A7-4018-B4F6-48BF44B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391D9-23B0-4B0C-9F02-3322A476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RandomizedSearchCV je poboljsao Naive Bayes, ali izbor klase modela je vazniji.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FD285-1D58-47F4-A4E8-133FA3E0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CD6AD-A57C-4F1C-B4C6-C366548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Voting/Stacking je implementiran, ali ne nadmasuje najbolji pojedinacni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2198A-FAFD-4F35-BB55-29ACE8B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84078-311D-47FA-8A6F-2CFDE8B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Predtrenirani transformer daje najbolji ukupni rezultat, ali je dodatak, ne zamjena za zadatak.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EDE5D-08F1-4BD7-B341-1EADBE2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Najvaznija interpretacija: jednostavniji model s pravim prikazom podataka moze biti vrlo konkurentan.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30143-1194-43AA-ACE2-4A3CE57C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 /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6566C-1208-4230-AE42-3EADBDB1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7446159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9E632-8CBC-4328-9682-ECE5986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109FB-07A1-4C0F-AB00-5050095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05935-23AA-40FD-A452-81880A1F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Predaja: sto je u repozitoriju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B49B3-8280-4133-84D1-C7D731D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Primjena umjetne inteligencije | IMDb sentiment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DF6C3-E0BD-4FBB-83F4-997FE7A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5E232-1071-4586-A622-DBA0D826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19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87613-D644-4D2E-A56E-061E31C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43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C436D-C189-4855-A52C-3C0038D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1920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Putanja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43FE0-A796-4B04-A5DC-4DB5DF3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F17E7-1AAB-4AD2-975F-508EB90D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C5494-CE0C-4D8C-B7CA-7D48452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66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2DFE4-EF1B-4E73-94A3-281A352F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4305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 i classifiers/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5E550-FACE-4278-A20E-BF6B6E8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F62E9-C88B-48B1-A1F0-761D708B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Podaci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6DC16-2815-4F9A-991A-5A5F4A94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B05C6-F7E8-40CF-B6C9-5E949131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data/raw/kaggle_imdb_50k i data/raw/stanford_imdb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65C63-01C6-4EB7-B675-048C579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EAEBC-4405-4371-9A6F-6A814296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Rezultati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4B206-7654-4ACC-869E-044619B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EBA5F-2A93-4441-A042-F1A73B3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outputs/**/metrics.json + confusion_matrix.json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3316D-71CF-4250-8EF4-AB7C50D2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F20FE-A6BC-4F06-8C78-A91D709A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Izvjestaj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6224A-EC5C-40A9-90AA-AF5FB840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2C1FA-3DBE-4513-8039-BE17A12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1460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reports/final_report/analiza_sentimenta_recenzija.docx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9F016-BD50-40AE-9443-D692CE11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AF948-BC9C-443A-A5CD-8C85480C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Prezentacija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84698-D5EE-43AD-B8FE-145325B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B64FE-CA24-4F53-AA8A-B88297A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708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presentation/analiza_sentimenta_recenzija.pptx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5D430-6C2E-496F-8DE9-BAAB6DD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Glavna naredba za primjer reprodukcije: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2DB7C-019A-42DD-AAF2-77BEEC1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C7597-92A7-4112-85AF-AA935DCA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PYTHONPATH=. python -m classifiers.linear_svc.run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48296-9810-401F-83D1-FCCF12E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Finalna poruka: zahtjevi su pokriveni, a dodatni transformer dio pokazuje moderni benchmark.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E0B69-F7C3-4028-845D-92040A0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 / 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2BF7B-69AB-43DA-8300-BDA1C18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532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Evidence: local metrics JSON + course PDF</a:t>
            </a:r>
          </a:p>
        </p:txBody>
      </p:sp>
    </p:spTree>
    <p:extLst>
      <p:ext uri="{BB962C8B-B14F-4D97-AF65-F5344CB8AC3E}">
        <p14:creationId xmlns:p14="http://schemas.microsoft.com/office/powerpoint/2010/main" val="122682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2026-06-04T17:04:06.4140000Z</dcterms:created>
  <dcterms:modified xsi:type="dcterms:W3CDTF">2026-06-04T17:04:06.4140000Z</dcterms:modified>
</coreProperties>
</file>