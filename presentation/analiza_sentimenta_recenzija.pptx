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0d186daf71486e" /><Relationship Type="http://schemas.openxmlformats.org/officeDocument/2006/relationships/extended-properties" Target="/docProps/app.xml" Id="R3ffe45d241e14d43" /><Relationship Type="http://schemas.openxmlformats.org/officeDocument/2006/relationships/officeDocument" Target="/ppt/presentation.xml" Id="R5e118d6b638847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18d9e9dee44f40"/>
  </p:sldMasterIdLst>
  <p:notesMasterIdLst>
    <p:notesMasterId xmlns:r="http://schemas.openxmlformats.org/officeDocument/2006/relationships" r:id="R4e3ffc26b56647f9"/>
  </p:notesMasterIdLst>
  <p:sldIdLst>
    <p:sldId xmlns:r="http://schemas.openxmlformats.org/officeDocument/2006/relationships" id="256" r:id="Rd476c1c1078a4eb4"/>
    <p:sldId xmlns:r="http://schemas.openxmlformats.org/officeDocument/2006/relationships" id="257" r:id="R33844ecbf2004b01"/>
    <p:sldId xmlns:r="http://schemas.openxmlformats.org/officeDocument/2006/relationships" id="258" r:id="R0e8fdd0697f14b4d"/>
    <p:sldId xmlns:r="http://schemas.openxmlformats.org/officeDocument/2006/relationships" id="259" r:id="R384ee12cd560472d"/>
    <p:sldId xmlns:r="http://schemas.openxmlformats.org/officeDocument/2006/relationships" id="260" r:id="Rf8ab1c6523d04187"/>
    <p:sldId xmlns:r="http://schemas.openxmlformats.org/officeDocument/2006/relationships" id="261" r:id="R1f3bf363e728419b"/>
    <p:sldId xmlns:r="http://schemas.openxmlformats.org/officeDocument/2006/relationships" id="262" r:id="R6e533c589ad54772"/>
    <p:sldId xmlns:r="http://schemas.openxmlformats.org/officeDocument/2006/relationships" id="263" r:id="R8f24de3bae7b4777"/>
    <p:sldId xmlns:r="http://schemas.openxmlformats.org/officeDocument/2006/relationships" id="264" r:id="R4dd80e01f0cb499b"/>
    <p:sldId xmlns:r="http://schemas.openxmlformats.org/officeDocument/2006/relationships" id="265" r:id="Rabf546b5f3ac4b83"/>
    <p:sldId xmlns:r="http://schemas.openxmlformats.org/officeDocument/2006/relationships" id="266" r:id="R63aa5f31921e4747"/>
    <p:sldId xmlns:r="http://schemas.openxmlformats.org/officeDocument/2006/relationships" id="267" r:id="Rce6a207268cc4bc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9b63b9013f4aab" /><Relationship Type="http://schemas.openxmlformats.org/officeDocument/2006/relationships/slideMaster" Target="/ppt/slideMasters/slideMaster1.xml" Id="Rc218d9e9dee44f40" /><Relationship Type="http://schemas.openxmlformats.org/officeDocument/2006/relationships/notesMaster" Target="/ppt/notesMasters/notesMaster1.xml" Id="R4e3ffc26b56647f9" /><Relationship Type="http://schemas.openxmlformats.org/officeDocument/2006/relationships/presProps" Target="/ppt/presProps.xml" Id="Rf13f0f0ca7e44f03" /><Relationship Type="http://schemas.openxmlformats.org/officeDocument/2006/relationships/viewProps" Target="/ppt/viewProps.xml" Id="Rc186a1eeffa24269" /><Relationship Type="http://schemas.openxmlformats.org/officeDocument/2006/relationships/tableStyles" Target="/ppt/tableStyles.xml" Id="R206433067c5145b3" /><Relationship Type="http://schemas.openxmlformats.org/officeDocument/2006/relationships/slide" Target="/ppt/slides/slide1.xml" Id="Rd476c1c1078a4eb4" /><Relationship Type="http://schemas.openxmlformats.org/officeDocument/2006/relationships/slide" Target="/ppt/slides/slide2.xml" Id="R33844ecbf2004b01" /><Relationship Type="http://schemas.openxmlformats.org/officeDocument/2006/relationships/slide" Target="/ppt/slides/slide3.xml" Id="R0e8fdd0697f14b4d" /><Relationship Type="http://schemas.openxmlformats.org/officeDocument/2006/relationships/slide" Target="/ppt/slides/slide4.xml" Id="R384ee12cd560472d" /><Relationship Type="http://schemas.openxmlformats.org/officeDocument/2006/relationships/slide" Target="/ppt/slides/slide5.xml" Id="Rf8ab1c6523d04187" /><Relationship Type="http://schemas.openxmlformats.org/officeDocument/2006/relationships/slide" Target="/ppt/slides/slide6.xml" Id="R1f3bf363e728419b" /><Relationship Type="http://schemas.openxmlformats.org/officeDocument/2006/relationships/slide" Target="/ppt/slides/slide7.xml" Id="R6e533c589ad54772" /><Relationship Type="http://schemas.openxmlformats.org/officeDocument/2006/relationships/slide" Target="/ppt/slides/slide8.xml" Id="R8f24de3bae7b4777" /><Relationship Type="http://schemas.openxmlformats.org/officeDocument/2006/relationships/slide" Target="/ppt/slides/slide9.xml" Id="R4dd80e01f0cb499b" /><Relationship Type="http://schemas.openxmlformats.org/officeDocument/2006/relationships/slide" Target="/ppt/slides/slide10.xml" Id="Rabf546b5f3ac4b83" /><Relationship Type="http://schemas.openxmlformats.org/officeDocument/2006/relationships/slide" Target="/ppt/slides/slide11.xml" Id="R63aa5f31921e4747" /><Relationship Type="http://schemas.openxmlformats.org/officeDocument/2006/relationships/slide" Target="/ppt/slides/slide12.xml" Id="Rce6a207268cc4b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896874c6cb4d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7f8f7489594bbe" /><Relationship Type="http://schemas.openxmlformats.org/officeDocument/2006/relationships/notesMaster" Target="/ppt/notesMasters/notesMaster1.xml" Id="R16126ba50d7e4ae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9afb71ee3a423f" /><Relationship Type="http://schemas.openxmlformats.org/officeDocument/2006/relationships/notesMaster" Target="/ppt/notesMasters/notesMaster1.xml" Id="R53ab41cee5ca47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b94d77794f44c3" /><Relationship Type="http://schemas.openxmlformats.org/officeDocument/2006/relationships/notesMaster" Target="/ppt/notesMasters/notesMaster1.xml" Id="R4da4ce4a0a634d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5c6e0391753403b" /><Relationship Type="http://schemas.openxmlformats.org/officeDocument/2006/relationships/notesMaster" Target="/ppt/notesMasters/notesMaster1.xml" Id="R92434efaff0e43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b668070856445d" /><Relationship Type="http://schemas.openxmlformats.org/officeDocument/2006/relationships/notesMaster" Target="/ppt/notesMasters/notesMaster1.xml" Id="R67fd2f29ad3841d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d2ff2878ed4cc8" /><Relationship Type="http://schemas.openxmlformats.org/officeDocument/2006/relationships/notesMaster" Target="/ppt/notesMasters/notesMaster1.xml" Id="R5d94d7d75a3e4f7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412697da4c4d5d" /><Relationship Type="http://schemas.openxmlformats.org/officeDocument/2006/relationships/notesMaster" Target="/ppt/notesMasters/notesMaster1.xml" Id="R40ea9d019d7641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de7bd959764ea1" /><Relationship Type="http://schemas.openxmlformats.org/officeDocument/2006/relationships/notesMaster" Target="/ppt/notesMasters/notesMaster1.xml" Id="Rc8e9409867094a4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ff62f37e82a4157" /><Relationship Type="http://schemas.openxmlformats.org/officeDocument/2006/relationships/notesMaster" Target="/ppt/notesMasters/notesMaster1.xml" Id="R21c2b758dfbb46b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a235779a2ab4ba8" /><Relationship Type="http://schemas.openxmlformats.org/officeDocument/2006/relationships/notesMaster" Target="/ppt/notesMasters/notesMaster1.xml" Id="Rd873ef61cce74c0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fc23ca18a2a4902" /><Relationship Type="http://schemas.openxmlformats.org/officeDocument/2006/relationships/notesMaster" Target="/ppt/notesMasters/notesMaster1.xml" Id="R21e8c6768a3541e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de7187a21a04978" /><Relationship Type="http://schemas.openxmlformats.org/officeDocument/2006/relationships/notesMaster" Target="/ppt/notesMasters/notesMaster1.xml" Id="R4268a20945744c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b4dc77f13b495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ea6dfbaed14347" /><Relationship Type="http://schemas.openxmlformats.org/officeDocument/2006/relationships/slideLayout" Target="/ppt/slideLayouts/slideLayout1.xml" Id="R2697e999290142d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97e999290142d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fcac6c9bd148eb" /><Relationship Type="http://schemas.openxmlformats.org/officeDocument/2006/relationships/notesSlide" Target="/ppt/notesSlides/notesSlide1.xml" Id="Rd0a1842bd1474a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26155a7861435f" /><Relationship Type="http://schemas.openxmlformats.org/officeDocument/2006/relationships/notesSlide" Target="/ppt/notesSlides/notesSlide2.xml" Id="R28e851358f6747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3e7598b86f4d5a" /><Relationship Type="http://schemas.openxmlformats.org/officeDocument/2006/relationships/notesSlide" Target="/ppt/notesSlides/notesSlide3.xml" Id="R223c44f163db47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59cb4a26b44ab" /><Relationship Type="http://schemas.openxmlformats.org/officeDocument/2006/relationships/image" Target="/ppt/media/image.png" Id="R5426c2cfff944f0e" /><Relationship Type="http://schemas.openxmlformats.org/officeDocument/2006/relationships/notesSlide" Target="/ppt/notesSlides/notesSlide4.xml" Id="Rc5760bd18d3f48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1ebd3b62314831" /><Relationship Type="http://schemas.openxmlformats.org/officeDocument/2006/relationships/image" Target="/ppt/media/image2.png" Id="Rec34830780094acd" /><Relationship Type="http://schemas.openxmlformats.org/officeDocument/2006/relationships/notesSlide" Target="/ppt/notesSlides/notesSlide5.xml" Id="R3b5ecbde26e349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52cdeea6b472a" /><Relationship Type="http://schemas.openxmlformats.org/officeDocument/2006/relationships/notesSlide" Target="/ppt/notesSlides/notesSlide6.xml" Id="Rbae2eab85ef54bc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88854d7eb64799" /><Relationship Type="http://schemas.openxmlformats.org/officeDocument/2006/relationships/notesSlide" Target="/ppt/notesSlides/notesSlide7.xml" Id="R8e5adff56ee24a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8bef49fdc74fc5" /><Relationship Type="http://schemas.openxmlformats.org/officeDocument/2006/relationships/notesSlide" Target="/ppt/notesSlides/notesSlide8.xml" Id="Raf5fe439b0c942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6466007c704c2c" /><Relationship Type="http://schemas.openxmlformats.org/officeDocument/2006/relationships/notesSlide" Target="/ppt/notesSlides/notesSlide9.xml" Id="R830fa8d8f0ad400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97d289022d4e15" /><Relationship Type="http://schemas.openxmlformats.org/officeDocument/2006/relationships/image" Target="/ppt/media/image3.png" Id="Rf37433721fb841db" /><Relationship Type="http://schemas.openxmlformats.org/officeDocument/2006/relationships/notesSlide" Target="/ppt/notesSlides/notesSlide10.xml" Id="Rea7c8c4a2dfb4f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b321c09c1e4623" /><Relationship Type="http://schemas.openxmlformats.org/officeDocument/2006/relationships/notesSlide" Target="/ppt/notesSlides/notesSlide11.xml" Id="Rea44365e65fa41e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c0e8df679f442c" /><Relationship Type="http://schemas.openxmlformats.org/officeDocument/2006/relationships/notesSlide" Target="/ppt/notesSlides/notesSlide12.xml" Id="R19ac17c92c0a497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99E284-FCA3-4FBE-9E09-992A51ED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ECA108-0CF2-44BB-9B7D-9708A5DD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111827"/>
              </a:gs>
              <a:gs pos="58000">
                <a:srgbClr val="1E3A8A"/>
              </a:gs>
              <a:gs pos="100000">
                <a:srgbClr val="064E3B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50C589-9718-40C4-B982-CE0F1CE4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667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Analiza sentimenta recenzija filmova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8E4C76-433F-4BD3-97AC-C52C68FA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7429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DE7F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DE7F5"/>
                </a:solidFill>
                <a:latin typeface="Aptos"/>
                <a:ea typeface="Aptos"/>
                <a:cs typeface="Aptos"/>
              </a:rPr>
              <a:t>TF-IDF klasifikatori, ensemble modeli i dodatno transformer prosirenje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878209-734B-4DBD-9920-3EE4F09C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017FE0-3F39-411B-ACD7-C97E4853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FA7CB4-8F91-4C62-B46A-1AFA8939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33725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Best classical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A6C12D-C05B-44DF-96C9-FD597701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14725"/>
            <a:ext cx="2057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LinearSVC 0.9150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DAD27A-3645-408A-B452-DB384D1C3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00375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03F310-711D-4298-8D61-595804EB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00375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7A5583-7A24-4F0B-8B42-59827457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133725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Best ensemble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E8EE19-CD5A-42B8-9542-00F7FFD2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14725"/>
            <a:ext cx="2057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Voting 0.9107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C9221A-6F9A-42BC-80FA-3D15CB0E1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000375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677FC5-D838-47D3-B813-ED352900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000375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C6EAEA-46B7-4AC0-B5CA-8ED7F19E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33725"/>
            <a:ext cx="2343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Best extension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AA96CB-4EA6-4F3A-BB7B-9845F4A8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14725"/>
            <a:ext cx="2343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DeBERTa 0.9564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A7AFF5-241D-47FB-BF73-D0581F9D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Projekt iz kolegija Primjena umjetne inteligencije | Luka Ivanic | 2026</a:t>
            </a:r>
          </a:p>
        </p:txBody>
      </p:sp>
    </p:spTree>
    <p:extLst>
      <p:ext uri="{BB962C8B-B14F-4D97-AF65-F5344CB8AC3E}">
        <p14:creationId xmlns:p14="http://schemas.microsoft.com/office/powerpoint/2010/main" val="23678381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821D43-28E6-4520-A6DC-12336B03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EFDA83-72D0-4333-88EC-0BF9D060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EB8BC9-4AF3-42D9-9955-4F81ECC0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Sto je profesor trazio?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E1E589-B9D8-4CE6-A971-77361ADE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964BBA-9D4B-4625-8713-FBA2A64C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9886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341A81-180A-4C4C-B670-AE77409A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2872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Tema 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6E9ABF-6496-430A-94F4-23925194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200150"/>
            <a:ext cx="790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Analiza sentimenta recenzija: tekst klasifikacija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001470-F170-4EE7-89A1-9A760407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9886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FCD50C-28B6-4025-8400-79E249C7E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5262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Prikaz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BF9B2E-228A-416B-93B9-E2106D98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924050"/>
            <a:ext cx="790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TF-IDF znacajke nad IMDb recenzijama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8C1C43-9859-40DF-BD5A-75C06F0E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9886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DE272F-80CC-44F1-892E-8DCC43E9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7652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Modeli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D9A6F7-53C0-4296-BD0C-E43B473F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47950"/>
            <a:ext cx="790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10 propisanih klasifikatora + usporedba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2E8785-99B3-472C-A173-EB3F5F0FB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9886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07B8D5-B70B-4103-8CC2-27F8A41B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40042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Validacija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1BA1B2-FEFD-4694-AFF6-C5B24ED4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71850"/>
            <a:ext cx="790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RandomizedSearchCV s unakrsnom validacijom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0137D0-3D49-44F6-9748-8EB93D7CB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9886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5889EB-3CB3-4A7C-9E25-C0E019D0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2432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Metrike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D17C82-D360-423C-8FED-F01618E12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095750"/>
            <a:ext cx="790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ACC/BACC, Precision/Recall/F1, ROC-AUC, PR-AUC, MCC, log-loss, CM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C58518-7732-4624-97EE-B6D38027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9886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82172D-86DB-4BC5-9460-429638DA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84822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Finale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C7E8DC-C0F8-42E7-8521-EC3A5B91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19650"/>
            <a:ext cx="790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VotingClassifier ili StackingClassifier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048D63-5398-4A7C-B433-D56ED67C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8858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Dodatni transformer dio je istrazivacko prosirenje, ne zamjena za obavezni TF-IDF dio.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0B9E1E-26CC-4987-8CBE-720A019B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02 / 12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3DD98A-45DB-46DC-8AB0-306CF3E8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152255535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5627C3-DDA0-4ACC-86E4-5F60234F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D24767-D4D2-464E-834C-A2E0D156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B140F8-800B-4995-AF07-ADE1BB358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Podaci i split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437ECB-E935-491C-9243-48A92CC5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0789E2-4069-468E-8081-24D01D39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D423EE-5C31-4612-8783-B05A0271E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2DFAA4-ACE1-47ED-8718-D170447A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390650"/>
            <a:ext cx="2009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Ukupno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4AAE22-69BC-4010-852D-A401EDF2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71650"/>
            <a:ext cx="20097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50,000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10251A-5D08-4010-8BB6-649D1BA9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25730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2FAB4D-BD15-4F80-B6EB-D82506CC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2573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B187A9-65B9-4617-9D35-599BAC4A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390650"/>
            <a:ext cx="2009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Train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0094E9-0D7C-4DD6-B801-DE0FC28A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771650"/>
            <a:ext cx="20097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40,000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1B9209-760A-4566-9160-5603DA02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25730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25343D-2B3B-4E69-85DC-FB0BC511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2573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95AE1D-8061-4366-8314-85DA2756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390650"/>
            <a:ext cx="2009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901FF5-F97E-4942-8769-BB62947C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771650"/>
            <a:ext cx="20097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10,000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89BCA5-4FF8-4725-8D34-90F9394B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25730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85F800-024C-462F-9B47-D07D964F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2573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2BDC4D-5856-41DC-AB5C-B9405B72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390650"/>
            <a:ext cx="2009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Klase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A5E8E3-88ED-4716-8C4F-429AAA2A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71650"/>
            <a:ext cx="20097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50 / 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1C5CE8-D468-41AA-92DB-7CE5AA9E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90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B460E7-8AD0-4964-A3A1-E42499658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885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Primarni eksperimenti koriste Kaggle IMDb 50K Movie Reviews CSV.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C22AB7-FF7B-46EB-A304-D007079F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1CBBE3-5168-49B9-98A4-DD78E109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71850"/>
            <a:ext cx="885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Stanford IMDb Large Movie Review Dataset je takoder preuzet kao drugi izvor naveden u PDF-u.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37BE32-88EB-4B29-BFB1-BA36183B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46053A-CD2C-4E2F-A900-1BA592DE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885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Nema rucnog labeliranja: sentiment oznake su vec u datasetu.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F582B2-1BFA-4FE5-8699-F1CEBB643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46C103-AF0D-46C6-872F-C7D146FF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86250"/>
            <a:ext cx="885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Stratificirani 80/20 split s random_state=42 daje 5,000 pozitivnih i 5,000 negativnih testnih primjera.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91C342-74D2-453F-89FF-7C038D90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03 / 12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62DC16-4E54-4DC5-ABC1-7D621787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18423750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E89A1C-1138-4016-AC6D-B6E0139D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CD8262-5542-44FC-930D-BD309E20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94D75A-B16F-4405-865C-5919C43C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Pipeline: tekst do predikcije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845941-D8DA-4971-84A6-B913C50A1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26c2cfff944f0e"/>
          <a:stretch xmlns:a="http://schemas.openxmlformats.org/drawingml/2006/main"/>
        </p:blipFill>
        <p:spPr>
          <a:xfrm xmlns:a="http://schemas.openxmlformats.org/drawingml/2006/main">
            <a:off x="2000250" y="990600"/>
            <a:ext cx="8191500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EAA3A8-D528-4215-8025-AC40EECF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0"/>
            <a:ext cx="1028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Vokabular se uci samo na trening skupu; testni tekstovi se transformiraju istim naucenim TF-IDF vektorizatorom.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33033B-A3BE-4859-997A-3F177F74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04 / 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2F5907-92C3-4980-BF1A-266B2DC8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99900335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E17BF1-9C19-44CD-B8C2-2C08EC39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96AC38-48B9-4FE1-86CD-A4811D74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E161A5-8127-4453-9D66-2C5AC7F9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Zasto linearni modeli pobjeduju na TF-IDF-u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D96ABB-4D86-416B-B72B-AF6091D1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34830780094acd"/>
          <a:stretch xmlns:a="http://schemas.openxmlformats.org/drawingml/2006/main"/>
        </p:blipFill>
        <p:spPr>
          <a:xfrm xmlns:a="http://schemas.openxmlformats.org/drawingml/2006/main">
            <a:off x="2681288" y="933450"/>
            <a:ext cx="6829425" cy="45529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79F5B8-BB6B-4C8B-A639-6770D630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34050"/>
            <a:ext cx="994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LinearSVC je najbolji klasicni model: ACC 0.9150, F1 0.9152, ROC-AUC 0.9720.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115DC9-0E12-4B4A-87F7-6221B9E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05 / 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6F5EB-DFD9-4698-80D6-5D846D75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47298415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9B23DA-3ABB-44D6-98B5-ABF429E77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A2E0FD-9AAE-4876-A3D6-48AB4A92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8F9801-7DAA-4C01-90C5-1047F600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Metrike nisu samo accuracy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6FBD1F-7E3B-4781-8695-10D2769E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27FAB4-E89F-438A-B44F-0DF5B28F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1620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22DD84-9B39-4A1F-B16C-C4F970BE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23825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Metrika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15ED5B-B32E-4201-80CF-A6804455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16205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6A0E1A-6C34-45BF-99D5-2172D6F1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238250"/>
            <a:ext cx="737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Sto govori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15B2FF-A3E5-4D21-B876-60F09CBE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8590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A9305-DDD4-43EE-9092-83124917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6210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ACC / BACC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7F805F-ED28-41F2-80A2-AB5EF086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859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AB0DB6-BC24-4C10-9EC1-E4583106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62100"/>
            <a:ext cx="737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tocnost i balansirana tocnost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27821E-A58D-47A1-80AA-702F6CB4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C7FFBE-608C-40A8-812E-6E59BC69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8595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Precision / Recall / F1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34B523-049D-4438-B89E-41DCE6BE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0975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F449B9-7746-4424-A053-2850FACF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85950"/>
            <a:ext cx="737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kvaliteta pozitivnih predikcija i pronalazenje pozitivnih primjera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4AF451-4C4C-44EB-96E2-10A87F7C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3360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A03431-F631-41A5-999A-FDE472F5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ROC-AUC / PR-AUC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C98EEA-E33C-444C-AA1B-D89146BD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336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953AC1-7CAE-4A17-90E7-246E8F57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209800"/>
            <a:ext cx="737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rangiranje i kvaliteta pod razlicitim pragovima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64E225-ADDC-4783-BBDC-071AF666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574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44FE0B-1BEB-4439-BBDD-4FA6D046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3365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MCC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7600F8-D1B9-4DDD-AD2A-EAE73324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5745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89BCAE-E1D6-4120-B630-2E513EFF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37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korelacijska mjera za binarnu klasifikaciju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069388-0424-4524-B6B5-C82E4F49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8130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5091AE-CC74-4ECE-B263-1278AAED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Log-loss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18E134-697E-4712-A901-2A1550EC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813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ECBABD-03BB-4ED3-8895-15E2D9ED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57500"/>
            <a:ext cx="737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samo za modele s probabilistickim izlazom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0AA38F-CAA2-48AF-B95D-79964746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051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849599-81F7-4E51-9B8B-AF684F6A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8135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B3E3EC4-2324-469F-AE83-777478D9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0515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73F75B3-9D7F-4969-8A20-C60EF469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81350"/>
            <a:ext cx="737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TN, FP, FN, TP na 10k testnih primjera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3EB1B4-8946-44B5-9808-C9EA88C2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9120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Za LinearSVC, hinge-SGD, PassiveAggressive i hard voting log-loss nije prikazan jer ti izlazi nisu kalibrirane vjerojatnosti.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E5E61C-36DD-40D5-8F58-10F679DA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06 / 12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29E838-EFB1-42EA-85F9-51D9402B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122352406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98D6E7-9006-48CF-973B-9FE0E9BF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DA11DB-33E3-4EF0-BE91-EF7B7073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173A9-630F-49F6-A300-2542DCB5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Klasicni TF-IDF rezultati: linearni modeli vode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996F9-7BDB-45DF-8691-09D7525F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78A080-3D61-40ED-AF00-F3A172B4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1430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LinearSVC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BE96D7-E60C-4E24-BA14-1B5B09A7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190625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BEFCBF-E204-432E-98E0-104721A3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190625"/>
            <a:ext cx="5804297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3CBF92-A05C-46F9-91E8-467AE8CBA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143000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0.9150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71B9A-2BAC-4E34-BEA0-AB99BD13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4782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SGDClassifier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FE06C4-2CAB-4D60-92A3-2A751688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6954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074369-07AC-498A-AA38-A2B3CB30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695450"/>
            <a:ext cx="5502473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E98AD9-5190-4C68-8491-AD5DD67E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64782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0.9111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A51FCB-9589-4E3E-8E31-99F778DF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526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LogisticRegression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BFA85A-D417-4DB1-8285-DE193D27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00275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38C871-1EDE-4837-8A32-FA88CE11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00275"/>
            <a:ext cx="5378648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129317-833F-46AA-98BA-85AB6433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152650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0.9095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2C3FCA-B66B-4AFD-B61F-98F9F3A3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5747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PassiveAggressive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CB62CD-737C-4E06-AC90-2E75F1F4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0510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D9EDA9-7B88-41C1-92F6-3FA48E4B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05100"/>
            <a:ext cx="5123259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AC6906-9570-42F6-B718-C77AA102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65747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0.9062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C77B9E-C9B6-416B-B1A8-77C326C7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LightGBM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BAC1EE-26B2-40D8-9BE3-691779B4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209925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A5D837-F7DC-4093-B0FB-78753721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209925"/>
            <a:ext cx="400883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8DB8AB-51B5-4331-A115-90B15B5B8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162300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0.8918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6496FE-77FF-42B3-BDF4-37CFA791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6712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MultinomialNB tuned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E4FE33-C1C5-4589-913C-2EB791B1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147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214E16-2EFC-4FFF-B0C6-724B5B2D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14750"/>
            <a:ext cx="351353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CB8FD4-CD7E-4D90-8661-FC27D2DA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66712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0.8854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80C3FD-AD13-43BA-8023-38983329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ExtraTrees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ABB646-A740-4916-B5CD-001E6B93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219575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BD32C4-A649-4DB1-95BB-D828821D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219575"/>
            <a:ext cx="2700933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FFDA96-3A31-461F-9667-FBB94DCA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171950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0.8749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654687-4620-4A87-901B-7F781BE7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7677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RandomForest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287B360-870F-47E8-996E-CC25BF19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72440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CBB557-FFFC-4E3C-94A2-30121B5BD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724400"/>
            <a:ext cx="1803202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09A7D32-285E-4734-A646-BE10FA6BC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67677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0.8633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83430BB-AD40-4F40-84EA-3953414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816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XGBoost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1A8ED0-6222-46A8-B1B3-57EFE40C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229225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53CD2B-8B50-4227-BB5D-FDA860DFF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229225"/>
            <a:ext cx="843558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DCB78F-E95B-4555-8147-34F3089F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181600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0.8509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CF081C-BEDC-44EB-8220-DB3854D0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9055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Najbolji klasicni model: LinearSVC, ACC 0.9150, F1 0.9152, ROC-AUC 0.9720.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DDD33B5-5029-4099-8058-B6085B93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07 / 12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12415D6-DAC3-479C-B94C-143F7578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119467395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9EEC84-6899-4F06-B29F-800A60D5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3D73B-F0C8-404A-A7D6-0877AA29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4C512B-9903-497A-886A-76185649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Najbolji klasicni model: LinearSVC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5989B7-EE3D-4812-8CC7-BA3365DA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859A76-9F43-4D86-8979-B0A90E4D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38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6B4A7E-2692-4946-8278-B31D8DA6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382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3AE597-D2C5-48B7-8916-BA21A3A0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371600"/>
            <a:ext cx="2009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24B61A-CD8F-4336-B4CC-D3F261CA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20097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0.9150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842AB-14A8-4639-B8AD-87DC34A0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238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4DEAFD-7F6C-4798-8BD8-2E69459F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2382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881049-9A4E-431D-92D8-097F6CBA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371600"/>
            <a:ext cx="2009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F1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A9D888-E65E-426F-9C95-617C3940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52600"/>
            <a:ext cx="20097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0.9152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A576DC-3FE7-4E0E-A681-11F1578E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238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80579B-2250-4304-A7EC-A912BCF1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2382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B93B91-10AF-4186-B430-AE167F65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371600"/>
            <a:ext cx="2009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ROC-AUC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665FA-1E40-48EF-9CF8-96B67F9E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752600"/>
            <a:ext cx="20097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0.9720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6BBB4D-D971-4D2E-A94B-B2BCDE2C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238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51DC43-FBC1-46E8-8D12-1AD645C7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2382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5ABD91-8BDB-41B4-970E-E20146ED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371600"/>
            <a:ext cx="2009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MCC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6FC265-13FB-4CE9-B0DF-D4C6F2D1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752600"/>
            <a:ext cx="20097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0.8300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B458BC-E87C-4EB1-90B0-A5288C71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00375"/>
            <a:ext cx="400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Confusion matrix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DE7F62-21B2-4527-8A19-C93A9503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76625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00FCC6-5B8C-44E4-BE03-BDF0755A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5282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Actual / Pred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D67AB2-F0A0-4AE3-AA21-8D9E7E479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76625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7141F8-5AF9-4F03-BEE1-753E589E9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552825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Negative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F884CE-72CD-4249-B813-A224F7C6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76625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108379-54A1-47E8-9974-25549309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52825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Positive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CB9ADB-172A-4D34-B2E6-E6EA80FA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00475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F96566-8AFB-4401-A168-4CA95AD4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7667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Negative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DF0B25-B979-4E8A-B6E8-09CBCF7B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00475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CC0199-9D22-4168-803C-81643468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76675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4566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EF309A-5D72-4954-8A6D-40B319D9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00475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0E26C3-6DC9-4408-80A7-B906C018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876675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434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70BE4B-092B-464D-A4AF-A3367069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24325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0DFC95-47C5-46C9-B5F9-3A0BB305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0052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Positive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D3B801E-7860-4B12-9F63-7965A0EB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24325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19B40FC-A226-427A-BE80-7E04B567F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200525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416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3BD7EA2-5675-47CB-B0AB-C7401F73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24325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F98EE6-04F3-41EB-A872-39430862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200525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4584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8F1A4D1-6AB7-4BB5-B45C-6310D7C0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4000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850 gresaka na 10,000 testnih recenzija. Pogreske su uravnotezene: 434 FP i 416 FN.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626B9F7-331E-4129-9954-8A6B4E77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08 / 12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540967A-3824-4D8A-B258-E19FB484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109816975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E82AFE-7E26-4C49-9402-72F3B9DE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619C6C-1685-4D02-A003-2234F14C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19671C-F86E-4F26-960F-0E126055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Zavrsni ensemble: implementiran, ali nije pobjednik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D43C3D-3533-41E4-AD8A-1B599263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D7A500-57F0-4D39-B18F-D6EBB054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190625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6BA1EA-23BC-49AF-8F4E-C1722BDD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266825"/>
            <a:ext cx="2705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21210-2BF4-4073-BBB5-9AA0CA51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1906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EDE7ED-32B8-4C05-9E3F-6A091EB8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26682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ACC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1EDF9-F1DD-4450-BDC5-DE358E9A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1906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06FC51-D34C-4B20-9370-BE7B9C34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26682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F1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DB9BB9-A27D-402E-9974-58F24385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1906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0650CD-E15E-45BD-BD6E-C2D491AE4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26682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Log-loss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8561EE-1FBC-4477-A4D9-02195C9E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14475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2FC7DD-1B8B-4444-BD6D-9606218A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90675"/>
            <a:ext cx="2705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Soft Voting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0C0BB4-027E-4D64-9797-17FCF117A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144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E3D7F8-E16E-499A-B5E2-B825A48A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5906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0.9095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8F6E47-F016-4F2A-A9F6-F097D77E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5144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024F83-69DD-407E-AC96-F163965E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5906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0.9102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B05223-6D0A-4DFE-A2AF-6EFFC268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144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E72FCF-8EF5-4169-93DE-C3D5D6A0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5906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0.2654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FF033B-28F0-4E73-9CF1-FCC0119D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38325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B09E00-970D-483C-9EE5-BCF3DE15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14525"/>
            <a:ext cx="2705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Hard Voting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A9C9CF-848A-4810-B832-CAD562A8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383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9845D0-6A24-4D4A-BC08-43B9BFF1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1452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0.9107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1FC3C4-9476-4316-9AB3-153B5E47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383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698E53-967C-4D26-B9FC-6FE0F61D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1452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0.9112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B1723C-5964-4D8D-8B0E-8E3682E19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383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F2BC09-978B-4B6A-9783-7594E7C1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91452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1BF0ED-646F-4C38-951E-401F1D0D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62175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86FFED-C8A8-4488-BDE8-CEC6D653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38375"/>
            <a:ext cx="2705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Stacking prefit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BCB2E5-EC47-467C-B03B-C0ECA645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1621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B403A3-8F5B-4ED5-810C-F53B0BA3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2383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0.9099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1188ED-D95C-46E2-8B04-71E8648B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621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7AE24E-2DA5-4690-8569-2DB4F847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383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0.9101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DE1695F-C9C6-408C-8547-E26C932E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621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132DEB-B114-4D38-838A-AAC48D49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383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0.4079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2EF486-DDF8-4E44-8B66-53B30D79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71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1CE91B-F938-4B42-8144-9A76C64D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95625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Soft Voting je najcistiji zavrsni ensemble jer daje probabilisticke metrike.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2E678D-3413-422C-BE06-5279C7ED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48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ABB065-7CA8-48FE-82BF-94B1AC6C8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71875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Hard Voting ima malo bolju tocnost, ali nema standardni log-loss.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0A7F14-2EB4-417E-8029-89C95802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24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F2952AD-8AE2-46E0-88F7-36F216F5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48125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LinearSVC ostaje najbolji klasicni pojedinacni model.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398D6C6-5CC2-4EB3-BAEE-C9F2B3C5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43500"/>
            <a:ext cx="942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Zakljucak: ensemble zadovoljava zahtjev kolegija, ali rezultati ne smiju biti uljepsani - u ovom skupu jednostavan linearni model radi bolje.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88A9C2F-3F7D-4F0E-A559-96B15F13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09 / 12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75B6CF-E28A-4D7E-8148-6FCA46FA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209432344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3D0636-2CC8-4971-8A75-A8578703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E1726A-6345-425D-B738-463657A6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8EEE47-84DD-40B7-834A-8F2C1296A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Dodatno: transformer modeli mijenjaju plafon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7A6ED-4C5A-4992-8565-1D5217D1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7433721fb841db"/>
          <a:stretch xmlns:a="http://schemas.openxmlformats.org/drawingml/2006/main"/>
        </p:blipFill>
        <p:spPr>
          <a:xfrm xmlns:a="http://schemas.openxmlformats.org/drawingml/2006/main">
            <a:off x="495300" y="1112130"/>
            <a:ext cx="5810250" cy="3195466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E75D3D-A4FC-4AAD-9323-40A9AA7A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52550"/>
            <a:ext cx="1952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LinearSVC TF-IDF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5DC252-21A5-471D-B7E8-AB5AC61A2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40017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243AA0-CEC0-4D3D-86EC-85C51849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400175"/>
            <a:ext cx="1097643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F6DF14-CB20-463B-A876-E4674731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3525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0.9150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B62D96-AD25-404C-AD50-B3891BC3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81200"/>
            <a:ext cx="1952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Tiny transformer od nule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193E0E-5A8C-4CBD-ADCF-659B82F2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02882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685E4E-9064-48DF-B1E3-09D51F9F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028825"/>
            <a:ext cx="68453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146616-D1AB-4DBD-9280-D2B637B4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9812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0.8943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CBAB8D-2A05-415B-8D44-85517D30E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1952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DistilBERT fine-tune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03F4D2-F53A-43E5-B1B0-5E87B3C3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65747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6361D7-FDAB-4FE9-A673-3297D486A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657475"/>
            <a:ext cx="153470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0523F7-C33B-4581-BBCE-015D536F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098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0.9369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ED26F9-F37F-4254-BBA0-ED20F2EE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38500"/>
            <a:ext cx="1952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DeBERTa-v3-small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A02A82-5BA1-492A-A978-CD895426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28612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50E0BE-A92E-485F-A6DD-CD1468D5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286125"/>
            <a:ext cx="1923869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C9172E-C53B-47E3-AF0C-C9F90CDD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2385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0.9564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292F50-4788-487F-AE4B-4951738B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57750"/>
            <a:ext cx="10382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Predtrenirani jezik je kljuc: mali transformer od nule ne pobjeduje TF-IDF, ali DeBERTa smanjuje broj gresaka s 850 na 436.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E06B00-3977-47FE-B189-603110ED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10 / 12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5F218A-3936-472F-974F-4F3E6F80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4970440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67423D-C69C-486B-92D3-05D17A3C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61736C-D417-4334-BACF-6CE9C4C8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30B6E1-E06C-4F14-8C40-1FA96AD7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Sto smo naucili?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E03B20-415F-4563-855A-7F6EBB47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C348BD-CDA4-49ED-AF88-59D6AB5AC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57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677890-1E6A-4F0C-A92A-4BBC21717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381125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TF-IDF + linearni modeli su iznenadujuce jaki za IMDb sentiment.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0CFFE4-B27A-4E5E-AD89-89739ED5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28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089883-B07A-495A-AABE-82A37D96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952625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Tree/boosting modeli nisu automatski najbolji na rijetkim tekstualnim vektorima.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79E9A-6949-40BF-A382-F8618726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00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AFDBFE-C9C4-4F90-9436-AD46DC8A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24125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t>RandomizedSearchCV je pokrenut za svih 10 modela; linearni modeli su i dalje najjaci.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60DAB6-808D-46EE-BDA3-8C693FC2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71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40ED1-601A-48E7-A3A4-B0FCD52A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95625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Voting/Stacking je implementiran, ali ne nadmasuje najbolji pojedinacni model.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69E6A1-D618-4170-99F8-C2D85A8D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43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5B1EF3-B5A8-4506-AC88-1081D137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67125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Predtrenirani transformer daje najbolji ukupni rezultat, ali je dodatak, ne zamjena za zadatak.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82D2A0-8153-462B-B9C4-032A01AB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67300"/>
            <a:ext cx="914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Najvaznija interpretacija: jednostavniji model s pravim prikazom podataka moze biti vrlo konkurentan.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FDA513-D4E7-4E05-8A9F-5E8A2E51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11 / 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04CF8C-6E63-45CC-918D-7DF79FAB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26465686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C90EE8-E91E-49B8-A223-FFB87BA7E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9479B-74B2-4DCC-978B-F4DC3E65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805723-6588-4784-9C6B-529BEBD4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Predaja: sto je u repozitoriju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3E98D7-85D6-4D8E-A658-C6AAA05C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FACFD7-C6A7-443E-B5D1-4798027A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1430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BDF157-17BB-4F0F-8F97-954F1644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219200"/>
            <a:ext cx="2038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Dio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27197D-18ED-42B9-A3B1-9F89FA6C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14300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CB301-3461-477B-9B65-D3BBBADF6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219200"/>
            <a:ext cx="7086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Putanja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64C405-04EB-4B7B-9821-7978C551C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6685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EB5D64-589E-4E27-BA52-FF4B9EFC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43050"/>
            <a:ext cx="2038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Kod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EC9921-614F-43EB-AA53-A066CA4D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46685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E33C34-33A9-439D-B9B8-BA7AE13C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43050"/>
            <a:ext cx="7086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src/ i classifiers/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3F4809-173B-4847-BA3F-D7D46EB8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9217E5-D984-400B-BA7C-0412307B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66900"/>
            <a:ext cx="2038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Podaci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F4AEF5-7D72-40A6-BB61-381DD028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79070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5896F4-D25E-44EB-8D9E-F87DFA0A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866900"/>
            <a:ext cx="7086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data/raw/kaggle_imdb_50k i data/raw/stanford_imdb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20AA5B-5F70-4450-8D30-5AA027EE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1455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67FBF1-C8FD-4439-86C7-63042CBD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90750"/>
            <a:ext cx="2038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Rezultati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D9942C-9572-4863-8C18-62377E16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1455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10A987-A97B-4F92-B45E-48D469D7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190750"/>
            <a:ext cx="7086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outputs/**/metrics.json + confusion_matrix.json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367D01-8E0B-43AA-936A-45E40FD4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384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46EBB3-B1D0-4AAA-A2E1-35969B14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14600"/>
            <a:ext cx="2038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Izvjestaj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3DEEF5-FD0A-43A7-A9A2-EBD9BC03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43840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FF4761-406A-401D-8633-AE1E0936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514600"/>
            <a:ext cx="7086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reports/final_report/analiza_sentimenta_recenzija.docx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B3E79C-EB91-4792-936C-06CC8446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83697B-5837-487A-9566-7CBB11D7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2038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Prezentacija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4DB360-58B8-45CA-8178-C1100D10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6225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6629DD-95F7-4CDB-9F5A-3DF255E9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838450"/>
            <a:ext cx="7086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presentation/analiza_sentimenta_recenzija.pptx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336436-6A0C-4E21-8E7C-E8113545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923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Glavna naredba za primjer reprodukcije: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CC4BD0-6DC1-4355-8B6B-5FFF63E9A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19625"/>
            <a:ext cx="923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A70E32-B1D2-41A8-9F10-7DFDF2A9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006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E2E8F0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E2E8F0"/>
                </a:solidFill>
                <a:latin typeface="Aptos Mono"/>
                <a:ea typeface="Aptos Mono"/>
                <a:cs typeface="Aptos Mono"/>
              </a:rPr>
              <a:t>PYTHONPATH=. python -m classifiers.linear_svc.run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7C21F4-DBD4-4C07-866E-F2E4549B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923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Finalna poruka: zahtjevi su pokriveni, a dodatni transformer dio pokazuje moderni benchmark.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00286A-A4F3-444C-A8F5-3206441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12 / 12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351F83-BF21-4FE4-BC3E-9D8463EA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3303385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2026-06-05T13:43:10.7310000Z</dcterms:created>
  <dcterms:modified xsi:type="dcterms:W3CDTF">2026-06-05T13:43:10.7310000Z</dcterms:modified>
</coreProperties>
</file>