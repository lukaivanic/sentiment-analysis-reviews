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73f3643c034d03" /><Relationship Type="http://schemas.openxmlformats.org/officeDocument/2006/relationships/extended-properties" Target="/docProps/app.xml" Id="R5b9d9428e0c34175" /><Relationship Type="http://schemas.openxmlformats.org/officeDocument/2006/relationships/officeDocument" Target="/ppt/presentation.xml" Id="R5159477efc7345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b38266d4954036"/>
  </p:sldMasterIdLst>
  <p:notesMasterIdLst>
    <p:notesMasterId xmlns:r="http://schemas.openxmlformats.org/officeDocument/2006/relationships" r:id="Rad94ac0cca034dd4"/>
  </p:notesMasterIdLst>
  <p:sldIdLst>
    <p:sldId xmlns:r="http://schemas.openxmlformats.org/officeDocument/2006/relationships" id="256" r:id="R86da204419e14b15"/>
    <p:sldId xmlns:r="http://schemas.openxmlformats.org/officeDocument/2006/relationships" id="257" r:id="Rb680987929d7456c"/>
    <p:sldId xmlns:r="http://schemas.openxmlformats.org/officeDocument/2006/relationships" id="258" r:id="R03d30a45c8114c1f"/>
    <p:sldId xmlns:r="http://schemas.openxmlformats.org/officeDocument/2006/relationships" id="259" r:id="R0ccb4e035e3740b9"/>
    <p:sldId xmlns:r="http://schemas.openxmlformats.org/officeDocument/2006/relationships" id="260" r:id="R6185d6bd3d2f4571"/>
    <p:sldId xmlns:r="http://schemas.openxmlformats.org/officeDocument/2006/relationships" id="261" r:id="Rc20913d43d30461f"/>
    <p:sldId xmlns:r="http://schemas.openxmlformats.org/officeDocument/2006/relationships" id="262" r:id="R8dfe103e99ea4519"/>
    <p:sldId xmlns:r="http://schemas.openxmlformats.org/officeDocument/2006/relationships" id="263" r:id="R642fef8db1a642b1"/>
    <p:sldId xmlns:r="http://schemas.openxmlformats.org/officeDocument/2006/relationships" id="264" r:id="R6b5390efd5c44976"/>
    <p:sldId xmlns:r="http://schemas.openxmlformats.org/officeDocument/2006/relationships" id="265" r:id="R992a3ec36ba84895"/>
    <p:sldId xmlns:r="http://schemas.openxmlformats.org/officeDocument/2006/relationships" id="266" r:id="R947bb07e0cbc4362"/>
    <p:sldId xmlns:r="http://schemas.openxmlformats.org/officeDocument/2006/relationships" id="267" r:id="R6d707e288672447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05b38c6b514bb3" /><Relationship Type="http://schemas.openxmlformats.org/officeDocument/2006/relationships/slideMaster" Target="/ppt/slideMasters/slideMaster1.xml" Id="Reeb38266d4954036" /><Relationship Type="http://schemas.openxmlformats.org/officeDocument/2006/relationships/notesMaster" Target="/ppt/notesMasters/notesMaster1.xml" Id="Rad94ac0cca034dd4" /><Relationship Type="http://schemas.openxmlformats.org/officeDocument/2006/relationships/presProps" Target="/ppt/presProps.xml" Id="Rf3e31b8430fc4a83" /><Relationship Type="http://schemas.openxmlformats.org/officeDocument/2006/relationships/viewProps" Target="/ppt/viewProps.xml" Id="R50368d7597334ed7" /><Relationship Type="http://schemas.openxmlformats.org/officeDocument/2006/relationships/tableStyles" Target="/ppt/tableStyles.xml" Id="R4751c1d057794add" /><Relationship Type="http://schemas.openxmlformats.org/officeDocument/2006/relationships/slide" Target="/ppt/slides/slide1.xml" Id="R86da204419e14b15" /><Relationship Type="http://schemas.openxmlformats.org/officeDocument/2006/relationships/slide" Target="/ppt/slides/slide2.xml" Id="Rb680987929d7456c" /><Relationship Type="http://schemas.openxmlformats.org/officeDocument/2006/relationships/slide" Target="/ppt/slides/slide3.xml" Id="R03d30a45c8114c1f" /><Relationship Type="http://schemas.openxmlformats.org/officeDocument/2006/relationships/slide" Target="/ppt/slides/slide4.xml" Id="R0ccb4e035e3740b9" /><Relationship Type="http://schemas.openxmlformats.org/officeDocument/2006/relationships/slide" Target="/ppt/slides/slide5.xml" Id="R6185d6bd3d2f4571" /><Relationship Type="http://schemas.openxmlformats.org/officeDocument/2006/relationships/slide" Target="/ppt/slides/slide6.xml" Id="Rc20913d43d30461f" /><Relationship Type="http://schemas.openxmlformats.org/officeDocument/2006/relationships/slide" Target="/ppt/slides/slide7.xml" Id="R8dfe103e99ea4519" /><Relationship Type="http://schemas.openxmlformats.org/officeDocument/2006/relationships/slide" Target="/ppt/slides/slide8.xml" Id="R642fef8db1a642b1" /><Relationship Type="http://schemas.openxmlformats.org/officeDocument/2006/relationships/slide" Target="/ppt/slides/slide9.xml" Id="R6b5390efd5c44976" /><Relationship Type="http://schemas.openxmlformats.org/officeDocument/2006/relationships/slide" Target="/ppt/slides/slide10.xml" Id="R992a3ec36ba84895" /><Relationship Type="http://schemas.openxmlformats.org/officeDocument/2006/relationships/slide" Target="/ppt/slides/slide11.xml" Id="R947bb07e0cbc4362" /><Relationship Type="http://schemas.openxmlformats.org/officeDocument/2006/relationships/slide" Target="/ppt/slides/slide12.xml" Id="R6d707e28867244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07fb4cd42146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e35bdc9e9c4794" /><Relationship Type="http://schemas.openxmlformats.org/officeDocument/2006/relationships/notesMaster" Target="/ppt/notesMasters/notesMaster1.xml" Id="R0d72a0b56e1d4d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0738636d61488d" /><Relationship Type="http://schemas.openxmlformats.org/officeDocument/2006/relationships/notesMaster" Target="/ppt/notesMasters/notesMaster1.xml" Id="R48301d41f03f46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5887c861c14b89" /><Relationship Type="http://schemas.openxmlformats.org/officeDocument/2006/relationships/notesMaster" Target="/ppt/notesMasters/notesMaster1.xml" Id="Rd617da429e0c40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3cbb120f434c66" /><Relationship Type="http://schemas.openxmlformats.org/officeDocument/2006/relationships/notesMaster" Target="/ppt/notesMasters/notesMaster1.xml" Id="R916f555c1c9e4f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2e41d55bff45ac" /><Relationship Type="http://schemas.openxmlformats.org/officeDocument/2006/relationships/notesMaster" Target="/ppt/notesMasters/notesMaster1.xml" Id="Rb7e79c812f604a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38bbc26860420d" /><Relationship Type="http://schemas.openxmlformats.org/officeDocument/2006/relationships/notesMaster" Target="/ppt/notesMasters/notesMaster1.xml" Id="Rb6de04d0fd3e42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d8c7daad574d69" /><Relationship Type="http://schemas.openxmlformats.org/officeDocument/2006/relationships/notesMaster" Target="/ppt/notesMasters/notesMaster1.xml" Id="R53425477e7bd4b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a2d075fa964d7b" /><Relationship Type="http://schemas.openxmlformats.org/officeDocument/2006/relationships/notesMaster" Target="/ppt/notesMasters/notesMaster1.xml" Id="R727199d0291b43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0e6b6c2bf24815" /><Relationship Type="http://schemas.openxmlformats.org/officeDocument/2006/relationships/notesMaster" Target="/ppt/notesMasters/notesMaster1.xml" Id="Rd9bc7cae33814f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46b236801b4848" /><Relationship Type="http://schemas.openxmlformats.org/officeDocument/2006/relationships/notesMaster" Target="/ppt/notesMasters/notesMaster1.xml" Id="R6d3bce58c28a41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ef2bcff19c40bc" /><Relationship Type="http://schemas.openxmlformats.org/officeDocument/2006/relationships/notesMaster" Target="/ppt/notesMasters/notesMaster1.xml" Id="Rc5929080685048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64c7ed431247f9" /><Relationship Type="http://schemas.openxmlformats.org/officeDocument/2006/relationships/notesMaster" Target="/ppt/notesMasters/notesMaster1.xml" Id="R504db12e5f6d46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394275771340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a76bab40df4b10" /><Relationship Type="http://schemas.openxmlformats.org/officeDocument/2006/relationships/slideLayout" Target="/ppt/slideLayouts/slideLayout1.xml" Id="Rc81ec756637049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1ec756637049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a673532014303" /><Relationship Type="http://schemas.openxmlformats.org/officeDocument/2006/relationships/notesSlide" Target="/ppt/notesSlides/notesSlide1.xml" Id="Rec41f43911254c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d6a3e3e514087" /><Relationship Type="http://schemas.openxmlformats.org/officeDocument/2006/relationships/notesSlide" Target="/ppt/notesSlides/notesSlide2.xml" Id="R31464e1537bf46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e0e72fb9594eaf" /><Relationship Type="http://schemas.openxmlformats.org/officeDocument/2006/relationships/notesSlide" Target="/ppt/notesSlides/notesSlide3.xml" Id="R013a3fd50e8943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bdd8708a64f2c" /><Relationship Type="http://schemas.openxmlformats.org/officeDocument/2006/relationships/image" Target="/ppt/media/image.png" Id="R0e11069add624b86" /><Relationship Type="http://schemas.openxmlformats.org/officeDocument/2006/relationships/notesSlide" Target="/ppt/notesSlides/notesSlide4.xml" Id="Ref499ad9531142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305c6088340fd" /><Relationship Type="http://schemas.openxmlformats.org/officeDocument/2006/relationships/image" Target="/ppt/media/image2.png" Id="R4d5d699519f44b49" /><Relationship Type="http://schemas.openxmlformats.org/officeDocument/2006/relationships/notesSlide" Target="/ppt/notesSlides/notesSlide5.xml" Id="Rf6a773f2cdb84e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fe418e6ce4797" /><Relationship Type="http://schemas.openxmlformats.org/officeDocument/2006/relationships/notesSlide" Target="/ppt/notesSlides/notesSlide6.xml" Id="R9f41964e7d1147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ce533a1c0420f" /><Relationship Type="http://schemas.openxmlformats.org/officeDocument/2006/relationships/notesSlide" Target="/ppt/notesSlides/notesSlide7.xml" Id="R68a354bc702547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268a6e20944b8" /><Relationship Type="http://schemas.openxmlformats.org/officeDocument/2006/relationships/notesSlide" Target="/ppt/notesSlides/notesSlide8.xml" Id="Rf4d1a4c5b69b4d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972cc94b1423d" /><Relationship Type="http://schemas.openxmlformats.org/officeDocument/2006/relationships/notesSlide" Target="/ppt/notesSlides/notesSlide9.xml" Id="R0f5a88f6be2d4b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aff65129d468c" /><Relationship Type="http://schemas.openxmlformats.org/officeDocument/2006/relationships/image" Target="/ppt/media/image3.png" Id="R5d9ae9662e174349" /><Relationship Type="http://schemas.openxmlformats.org/officeDocument/2006/relationships/notesSlide" Target="/ppt/notesSlides/notesSlide10.xml" Id="R9fbf716148b841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4b1c9d727465d" /><Relationship Type="http://schemas.openxmlformats.org/officeDocument/2006/relationships/notesSlide" Target="/ppt/notesSlides/notesSlide11.xml" Id="R7ce7c8be4df24c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a5367d4d74fe1" /><Relationship Type="http://schemas.openxmlformats.org/officeDocument/2006/relationships/notesSlide" Target="/ppt/notesSlides/notesSlide12.xml" Id="R4d3a6bca4deb407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99E284-FCA3-4FBE-9E09-992A51ED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CA108-0CF2-44BB-9B7D-9708A5DD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111827"/>
              </a:gs>
              <a:gs pos="58000">
                <a:srgbClr val="1E3A8A"/>
              </a:gs>
              <a:gs pos="100000">
                <a:srgbClr val="064E3B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50C589-9718-40C4-B982-CE0F1CE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8667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Analiza sentimenta recenzija filmova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E4C76-433F-4BD3-97AC-C52C68FA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742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DE7F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DE7F5"/>
                </a:solidFill>
                <a:latin typeface="Aptos"/>
                <a:ea typeface="Aptos"/>
                <a:cs typeface="Aptos"/>
              </a:rPr>
              <a:t>TF-IDF klasifikatori, ensemble modeli i dodatno transformer prosirenje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78209-734B-4DBD-9920-3EE4F09C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17FE0-3F39-411B-ACD7-C97E4853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A7CB4-8F91-4C62-B46A-1AFA8939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337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classical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A6C12D-C05B-44DF-96C9-FD597701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14725"/>
            <a:ext cx="2057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LinearSVC 0.9150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AD27A-3645-408A-B452-DB384D1C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037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3F310-711D-4298-8D61-595804EB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0375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A5583-7A24-4F0B-8B42-59827457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33725"/>
            <a:ext cx="2057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ensemble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8EE19-CD5A-42B8-9542-00F7FFD2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14725"/>
            <a:ext cx="2057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Voting 0.9107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9221A-6F9A-42BC-80FA-3D15CB0E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00375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677FC5-D838-47D3-B813-ED352900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00375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C6EAEA-46B7-4AC0-B5CA-8ED7F19E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33725"/>
            <a:ext cx="2343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Best extension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AA96CB-4EA6-4F3A-BB7B-9845F4A8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14725"/>
            <a:ext cx="2343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DeBERTa 0.9564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A7AFF5-241D-47FB-BF73-D0581F9D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Projekt iz kolegija Primjena umjetne inteligencije | Luka Ivanic | 2026</a:t>
            </a:r>
          </a:p>
        </p:txBody>
      </p:sp>
    </p:spTree>
    <p:extLst>
      <p:ext uri="{BB962C8B-B14F-4D97-AF65-F5344CB8AC3E}">
        <p14:creationId xmlns:p14="http://schemas.microsoft.com/office/powerpoint/2010/main" val="23678381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821D43-28E6-4520-A6DC-12336B03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FDA83-72D0-4333-88EC-0BF9D060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B8BC9-4AF3-42D9-9955-4F81ECC0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Sto je profesor trazio?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1E589-B9D8-4CE6-A971-77361ADE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964BBA-9D4B-4625-8713-FBA2A64C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41A81-180A-4C4C-B670-AE77409A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287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Tema 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E9ABF-6496-430A-94F4-23925194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2001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Analiza sentimenta recenzija: tekst klasifikacija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01470-F170-4EE7-89A1-9A760407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FCD50C-28B6-4025-8400-79E249C7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9526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Prikaz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F9B2E-228A-416B-93B9-E2106D98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9240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TF-IDF znacajke nad IMDb recenzijama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C1C43-9859-40DF-BD5A-75C06F0E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DE272F-80CC-44F1-892E-8DCC43E9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765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Modeli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9A6F7-53C0-4296-BD0C-E43B473F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10 propisanih klasifikatora + usporedba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2E8785-99B3-472C-A173-EB3F5F0F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07B8D5-B70B-4103-8CC2-27F8A41B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4004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Validacija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1BA1B2-FEFD-4694-AFF6-C5B24ED4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718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RandomizedSearchCV s unakrsnom validacijom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137D0-3D49-44F6-9748-8EB93D7C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5889EB-3CB3-4A7C-9E25-C0E019D0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243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Metrike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D17C82-D360-423C-8FED-F01618E1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0957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ACC/BACC, Precision/Recall/F1, ROC-AUC, PR-AUC, MCC, log-loss, CM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C58518-7732-4624-97EE-B6D38027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9886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82172D-86DB-4BC5-9460-429638DA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8482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Finale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C7E8DC-C0F8-42E7-8521-EC3A5B91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19650"/>
            <a:ext cx="790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VotingClassifier ili StackingClassifier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048D63-5398-4A7C-B433-D56ED67C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885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Dodatni transformer dio je istrazivacko prosirenje, ne zamjena za obavezni TF-IDF dio.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0B9E1E-26CC-4987-8CBE-720A019B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02 / 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3DD98A-45DB-46DC-8AB0-306CF3E8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5225553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5627C3-DDA0-4ACC-86E4-5F60234F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24767-D4D2-464E-834C-A2E0D156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140F8-800B-4995-AF07-ADE1BB35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Podaci i split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37ECB-E935-491C-9243-48A92CC5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789E2-4069-468E-8081-24D01D39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D423EE-5C31-4612-8783-B05A0271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DFAA4-ACE1-47ED-8718-D170447A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Ukupno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AAE22-69BC-4010-852D-A401EDF2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0251A-5D08-4010-8BB6-649D1BA9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FAB4D-BD15-4F80-B6EB-D82506CC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187A9-65B9-4617-9D35-599BAC4A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0094E9-0D7C-4DD6-B801-DE0FC28A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40,000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1B9209-760A-4566-9160-5603DA02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5343D-2B3B-4E69-85DC-FB0BC511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5AE1D-8061-4366-8314-85DA2756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901FF5-F97E-4942-8769-BB62947C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10,000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89BCA5-4FF8-4725-8D34-90F9394B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573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5F800-024C-462F-9B47-D07D964F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573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2BDC4D-5856-41DC-AB5C-B9405B72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39065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Klase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5E8E3-88ED-4716-8C4F-429AAA2A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50 / 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1C5CE8-D468-41AA-92DB-7CE5AA9E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B460E7-8AD0-4964-A3A1-E4249965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Primarni eksperimenti koriste Kaggle IMDb 50K Movie Reviews CSV.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C22AB7-FF7B-46EB-A304-D007079F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1CBBE3-5168-49B9-98A4-DD78E109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Stanford IMDb Large Movie Review Dataset je takoder preuzet kao drugi izvor naveden u PDF-u.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37BE32-88EB-4B29-BFB1-BA36183B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46053A-CD2C-4E2F-A900-1BA592DE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Nema rucnog labeliranja: sentiment oznake su vec u datasetu.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F582B2-1BFA-4FE5-8699-F1CEBB64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46C103-AF0D-46C6-872F-C7D146FF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Stratificirani 80/20 split s random_state=42 daje 5,000 pozitivnih i 5,000 negativnih testnih primjera.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91C342-74D2-453F-89FF-7C038D90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03 / 12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62DC16-4E54-4DC5-ABC1-7D621787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8423750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E89A1C-1138-4016-AC6D-B6E0139D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D8262-5542-44FC-930D-BD309E20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94D75A-B16F-4405-865C-5919C43C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Pipeline: tekst do predikcije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45941-D8DA-4971-84A6-B913C50A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1069add624b86"/>
          <a:stretch xmlns:a="http://schemas.openxmlformats.org/drawingml/2006/main"/>
        </p:blipFill>
        <p:spPr>
          <a:xfrm xmlns:a="http://schemas.openxmlformats.org/drawingml/2006/main">
            <a:off x="2000250" y="990600"/>
            <a:ext cx="8191500" cy="4095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AA3A8-D528-4215-8025-AC40EECF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1028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Vokabular se uci samo na trening skupu; testni tekstovi se transformiraju istim naucenim TF-IDF vektorizatorom.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3033B-A3BE-4859-997A-3F177F74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04 / 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F5907-92C3-4980-BF1A-266B2DC8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9990033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E17BF1-9C19-44CD-B8C2-2C08EC39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6AC38-48B9-4FE1-86CD-A4811D74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161A5-8127-4453-9D66-2C5AC7F9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Zasto linearni modeli pobjeduju na TF-IDF-u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D96ABB-4D86-416B-B72B-AF6091D1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5d699519f44b49"/>
          <a:stretch xmlns:a="http://schemas.openxmlformats.org/drawingml/2006/main"/>
        </p:blipFill>
        <p:spPr>
          <a:xfrm xmlns:a="http://schemas.openxmlformats.org/drawingml/2006/main">
            <a:off x="2681288" y="933450"/>
            <a:ext cx="6829425" cy="4552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9F5B8-BB6B-4C8B-A639-6770D630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34050"/>
            <a:ext cx="994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LinearSVC je najbolji klasicni model: ACC 0.9150, F1 0.9152, ROC-AUC 0.9720.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15DC9-0E12-4B4A-87F7-6221B9E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05 / 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6F5EB-DFD9-4698-80D6-5D846D75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47298415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9B23DA-3ABB-44D6-98B5-ABF429E7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2E0FD-9AAE-4876-A3D6-48AB4A92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F9801-7DAA-4C01-90C5-1047F600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Metrike nisu samo accuracy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FBD1F-7E3B-4781-8695-10D2769EC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7FAB4-E89F-438A-B44F-0DF5B28F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620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2DD84-9B39-4A1F-B16C-C4F970BE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2382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Metrika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5ED5B-B32E-4201-80CF-A6804455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1620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6A0E1A-6C34-45BF-99D5-2172D6F1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2382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Sto govori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15B2FF-A3E5-4D21-B876-60F09CBE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859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A9305-DDD4-43EE-9092-83124917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621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ACC / BACC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F805F-ED28-41F2-80A2-AB5EF086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859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AB0DB6-BC24-4C10-9EC1-E4583106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tocnost i balansirana tocnost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27821E-A58D-47A1-80AA-702F6CB4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7FFBE-608C-40A8-812E-6E59BC69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859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Precision / Recall / F1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34B523-049D-4438-B89E-41DCE6BE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F449B9-7746-4424-A053-2850FACF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859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kvaliteta pozitivnih predikcija i pronalazenje pozitivnih primjera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4AF451-4C4C-44EB-96E2-10A87F7C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336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03431-F631-41A5-999A-FDE472F5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ROC-AUC / PR-AUC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C98EEA-E33C-444C-AA1B-D89146BD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53AC1-7CAE-4A17-90E7-246E8F57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0980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rangiranje i kvaliteta pod razlicitim pragovima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64E225-ADDC-4783-BBDC-071AF666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44FE0B-1BEB-4439-BBDD-4FA6D046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336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MCC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7600F8-D1B9-4DDD-AD2A-EAE73324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574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89BCAE-E1D6-4120-B630-2E513EFF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korelacijska mjera za binarnu klasifikaciju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069388-0424-4524-B6B5-C82E4F49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5091AE-CC74-4ECE-B263-1278AAED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Log-loss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18E134-697E-4712-A901-2A1550EC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813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ECBABD-03BB-4ED3-8895-15E2D9ED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5750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samo za modele s probabilistickim izlazom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0AA38F-CAA2-48AF-B95D-79964746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849599-81F7-4E51-9B8B-AF684F6A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813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3E3EC4-2324-469F-AE83-777478D9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0515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3F75B3-9D7F-4969-8A20-C60EF469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81350"/>
            <a:ext cx="737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TN, FP, FN, TP na 10k testnih primjera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3EB1B4-8946-44B5-9808-C9EA88C2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912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Za LinearSVC, hinge-SGD, PassiveAggressive i hard voting log-loss nije prikazan jer ti izlazi nisu kalibrirane vjerojatnosti.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E5E61C-36DD-40D5-8F58-10F679DA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06 / 12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29E838-EFB1-42EA-85F9-51D9402B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2235240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8D6E7-9006-48CF-973B-9FE0E9BF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A11DB-33E3-4EF0-BE91-EF7B7073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173A9-630F-49F6-A300-2542DCB5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Klasicni TF-IDF rezultati: linearni modeli vode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996F9-7BDB-45DF-8691-09D7525F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8A080-3D61-40ED-AF00-F3A172B4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LinearSVC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BE96D7-E60C-4E24-BA14-1B5B09A7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19062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EFCBF-E204-432E-98E0-104721A3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190625"/>
            <a:ext cx="5804297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3CBF92-A05C-46F9-91E8-467AE8CB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1430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1B9A-2BAC-4E34-BEA0-AB99BD13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4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SGDClassifier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E06C4-2CAB-4D60-92A3-2A751688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6954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74369-07AC-498A-AA38-A2B3CB30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695450"/>
            <a:ext cx="550247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98AD9-5190-4C68-8491-AD5DD67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478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51FCB-9589-4E3E-8E31-99F778DF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LogisticRegression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FA85A-D417-4DB1-8285-DE193D27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0027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38C871-1EDE-4837-8A32-FA88CE11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00275"/>
            <a:ext cx="5378648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29317-833F-46AA-98BA-85AB6433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5265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0.9095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C3FCA-B66B-4AFD-B61F-98F9F3A3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5747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PassiveAggressive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CB62CD-737C-4E06-AC90-2E75F1F4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0510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D9EDA9-7B88-41C1-92F6-3FA48E4B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05100"/>
            <a:ext cx="5123259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AC6906-9570-42F6-B718-C77AA102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6574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0.9062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C77B9E-C9B6-416B-B1A8-77C326C7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LightGBM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AC1EE-26B2-40D8-9BE3-691779B4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0992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A5D837-F7DC-4093-B0FB-78753721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209925"/>
            <a:ext cx="400883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8DB8AB-51B5-4331-A115-90B15B5B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1623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0.8918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6496FE-77FF-42B3-BDF4-37CFA791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671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MultinomialNB tuned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E4FE33-C1C5-4589-913C-2EB791B1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147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214E16-2EFC-4FFF-B0C6-724B5B2D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14750"/>
            <a:ext cx="351353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CB8FD4-CD7E-4D90-8661-FC27D2DA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66712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0.8854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80C3FD-AD13-43BA-8023-38983329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ExtraTrees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ABB646-A740-4916-B5CD-001E6B93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21957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BD32C4-A649-4DB1-95BB-D828821D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219575"/>
            <a:ext cx="270093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FFDA96-3A31-461F-9667-FBB94DCA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7195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0.8749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654687-4620-4A87-901B-7F781BE7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RandomForest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87B360-870F-47E8-996E-CC25BF19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72440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CBB557-FFFC-4E3C-94A2-30121B5B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724400"/>
            <a:ext cx="180320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9A7D32-285E-4734-A646-BE10FA6B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767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0.8633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3430BB-AD40-4F40-84EA-3953414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816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XGBoost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1A8ED0-6222-46A8-B1B3-57EFE40C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29225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53CD2B-8B50-4227-BB5D-FDA860DF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29225"/>
            <a:ext cx="843558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DCB78F-E95B-4555-8147-34F3089F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18160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0.8509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CF081C-BEDC-44EB-8220-DB3854D0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9055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Najbolji klasicni model: LinearSVC, ACC 0.9150, F1 0.9152, ROC-AUC 0.9720.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DD33B5-5029-4099-8058-B6085B93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07 / 12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2415D6-DAC3-479C-B94C-143F7578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19467395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9EEC84-6899-4F06-B29F-800A60D5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3D73B-F0C8-404A-A7D6-0877AA29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C512B-9903-497A-886A-76185649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Najbolji klasicni model: LinearSVC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989B7-EE3D-4812-8CC7-BA3365DA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59A76-9F43-4D86-8979-B0A90E4D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6B4A7E-2692-4946-8278-B31D8DA6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3AE597-D2C5-48B7-8916-BA21A3A0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24B61A-CD8F-4336-B4CC-D3F261CA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0.9150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842AB-14A8-4639-B8AD-87DC34A0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DEAFD-7F6C-4798-8BD8-2E69459F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81049-9A4E-431D-92D8-097F6CBA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9D888-E65E-426F-9C95-617C3940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0.9152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576DC-3FE7-4E0E-A681-11F1578E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0579B-2250-4304-A7EC-A912BCF1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93B91-10AF-4186-B430-AE167F65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ROC-AUC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665FA-1E40-48EF-9CF8-96B67F9E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0.9720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BBB4D-D971-4D2E-A94B-B2BCDE2C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238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51DC43-FBC1-46E8-8D12-1AD645C7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238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ABD91-8BDB-41B4-970E-E20146ED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371600"/>
            <a:ext cx="20097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B6472"/>
                </a:solidFill>
                <a:latin typeface="Aptos"/>
                <a:ea typeface="Aptos"/>
                <a:cs typeface="Aptos"/>
              </a:rPr>
              <a:t>MCC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6FC265-13FB-4CE9-B0DF-D4C6F2D1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752600"/>
            <a:ext cx="20097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0.8300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B458BC-E87C-4EB1-90B0-A5288C71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0375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Confusion matrix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DE7F62-21B2-4527-8A19-C93A9503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76625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FCC6-5B8C-44E4-BE03-BDF0755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528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Actual / Pred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D67AB2-F0A0-4AE3-AA21-8D9E7E47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766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7141F8-5AF9-4F03-BEE1-753E589E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528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Negative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F884CE-72CD-4249-B813-A224F7C6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766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08379-54A1-47E8-9974-2554930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28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Positive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CB9ADB-172A-4D34-B2E6-E6EA80FA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00475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F96566-8AFB-4401-A168-4CA95AD4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7667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Negative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DF0B25-B979-4E8A-B6E8-09CBCF7B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0047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CC0199-9D22-4168-803C-81643468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7667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4566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EF309A-5D72-4954-8A6D-40B319D9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0047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0E26C3-6DC9-4408-80A7-B906C018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7667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434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70BE4B-092B-464D-A4AF-A3367069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24325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0DFC95-47C5-46C9-B5F9-3A0BB305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00525"/>
            <a:ext cx="1657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Positive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3B801E-7860-4B12-9F63-7965A0EB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243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9B40FC-A226-427A-BE80-7E04B567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005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416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BD7EA2-5675-47CB-B0AB-C7401F73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24325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F98EE6-04F3-41EB-A872-39430862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00525"/>
            <a:ext cx="1371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4584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F1A4D1-6AB7-4BB5-B45C-6310D7C0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000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850 gresaka na 10,000 testnih recenzija. Pogreske su uravnotezene: 434 FP i 416 FN.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26B9F7-331E-4129-9954-8A6B4E77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08 / 12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40967A-3824-4D8A-B258-E19FB484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10981697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E82AFE-7E26-4C49-9402-72F3B9DE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619C6C-1685-4D02-A003-2234F14C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9671C-F86E-4F26-960F-0E126055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Zavrsni ensemble: implementiran, ali nije pobjednik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43C3D-3533-41E4-AD8A-1B599263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7A500-57F0-4D39-B18F-D6EBB054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906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6BA1EA-23BC-49AF-8F4E-C1722BDD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6682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21210-2BF4-4073-BBB5-9AA0CA51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1906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EDE7ED-32B8-4C05-9E3F-6A091EB8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2668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ACC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1EDF9-F1DD-4450-BDC5-DE358E9A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1906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06FC51-D34C-4B20-9370-BE7B9C34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2668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B9BB9-A27D-402E-9974-58F24385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1906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0650CD-E15E-45BD-BD6E-C2D491AE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2668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Log-loss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8561EE-1FBC-4477-A4D9-02195C9E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1447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FC7DD-1B8B-4444-BD6D-9606218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Soft Voting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C0BB4-027E-4D64-9797-17FCF117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144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E3D7F8-E16E-499A-B5E2-B825A48A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0.9095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8F6E47-F016-4F2A-A9F6-F097D77E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144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024F83-69DD-407E-AC96-F163965E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B05223-6D0A-4DFE-A2AF-6EFFC268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144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E72FCF-8EF5-4169-93DE-C3D5D6A0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906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0.2654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FF033B-28F0-4E73-9CF1-FCC0119D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383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B09E00-970D-483C-9EE5-BCF3DE15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1452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Hard Voting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A9C9CF-848A-4810-B832-CAD562A8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383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9845D0-6A24-4D4A-BC08-43B9BFF1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145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0.9107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1FC3C4-9476-4316-9AB3-153B5E47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383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698E53-967C-4D26-B9FC-6FE0F61D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0.9112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B1723C-5964-4D8D-8B0E-8E3682E1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3832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2BC09-978B-4B6A-9783-7594E7C1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1452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1BF0ED-646F-4C38-951E-401F1D0D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86FFED-C8A8-4488-BDE8-CEC6D653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38375"/>
            <a:ext cx="2705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Stacking prefit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BCB2E5-EC47-467C-B03B-C0ECA645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621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B403A3-8F5B-4ED5-810C-F53B0BA3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238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0.9099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1188ED-D95C-46E2-8B04-71E8648B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621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7AE24E-2DA5-4690-8569-2DB4F847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38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E1695F-C9C6-408C-8547-E26C932E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621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132DEB-B114-4D38-838A-AAC48D49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38375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0.4079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2EF486-DDF8-4E44-8B66-53B30D79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CE91B-F938-4B42-8144-9A76C64D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956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Soft Voting je najcistiji zavrsni ensemble jer daje probabilisticke metrike.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2E678D-3413-422C-BE06-5279C7ED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ABB065-7CA8-48FE-82BF-94B1AC6C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7187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Hard Voting ima malo bolju tocnost, ali nema standardni log-loss.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0A7F14-2EB4-417E-8029-89C95802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24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2952AD-8AE2-46E0-88F7-36F216F5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48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LinearSVC ostaje najbolji klasicni pojedinacni model.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98D6C6-5CC2-4EB3-BAEE-C9F2B3C5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942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Zakljucak: ensemble zadovoljava zahtjev kolegija, ali rezultati ne smiju biti uljepsani - u ovom skupu jednostavan linearni model radi bolje.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8A9C2F-3F7D-4F0E-A559-96B15F13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09 / 12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75B6CF-E28A-4D7E-8148-6FCA46FA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20943234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3D0636-2CC8-4971-8A75-A8578703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1726A-6345-425D-B738-463657A6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8EEE47-84DD-40B7-834A-8F2C1296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Dodatno: transformer modeli mijenjaju plafon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7A6ED-4C5A-4992-8565-1D5217D1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9ae9662e174349"/>
          <a:stretch xmlns:a="http://schemas.openxmlformats.org/drawingml/2006/main"/>
        </p:blipFill>
        <p:spPr>
          <a:xfrm xmlns:a="http://schemas.openxmlformats.org/drawingml/2006/main">
            <a:off x="495300" y="1112130"/>
            <a:ext cx="5810250" cy="319546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75D3D-A4FC-4AAD-9323-40A9AA7A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5255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LinearSVC TF-IDF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DC252-21A5-471D-B7E8-AB5AC61A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4001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243AA0-CEC0-4D3D-86EC-85C51849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400175"/>
            <a:ext cx="109764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F6DF14-CB20-463B-A876-E4674731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3525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0.9150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62D96-AD25-404C-AD50-B3891BC3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8120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Tiny transformer od nule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193E0E-5A8C-4CBD-ADCF-659B82F2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288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85E4E-9064-48DF-B1E3-09D51F9F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28825"/>
            <a:ext cx="68453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146616-D1AB-4DBD-9280-D2B637B4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9812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0.8943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BAB8D-2A05-415B-8D44-85517D30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DistilBERT fine-tune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3F4D2-F53A-43E5-B1B0-5E87B3C3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6574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361D7-FDAB-4FE9-A673-3297D486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657475"/>
            <a:ext cx="15347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0523F7-C33B-4581-BBCE-015D536F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6098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0.9369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ED26F9-F37F-4254-BBA0-ED20F2EE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38500"/>
            <a:ext cx="19526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DeBERTa-v3-small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A02A82-5BA1-492A-A978-CD895426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AF0"/>
          </a:solidFill>
          <a:ln xmlns:a="http://schemas.openxmlformats.org/drawingml/2006/main" w="0">
            <a:solidFill>
              <a:srgbClr val="E5EA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50E0BE-A92E-485F-A6DD-CD1468D5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1923869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C9172E-C53B-47E3-AF0C-C9F90CDD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2385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0.9564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92F50-4788-487F-AE4B-4951738B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1038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Predtrenirani jezik je kljuc: mali transformer od nule ne pobjeduje TF-IDF, ali DeBERTa smanjuje broj gresaka s 850 na 436.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E06B00-3977-47FE-B189-603110ED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5F218A-3936-472F-974F-4F3E6F80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4970440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67423D-C69C-486B-92D3-05D17A3C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1736C-D417-4334-BACF-6CE9C4C8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30B6E1-E06C-4F14-8C40-1FA96AD7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Sto smo naucili?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E03B20-415F-4563-855A-7F6EBB47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348BD-CDA4-49ED-AF88-59D6AB5A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57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77890-1E6A-4F0C-A92A-4BBC2171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381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TF-IDF + linearni modeli su iznenadujuce jaki za IMDb sentiment.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0CFFE4-B27A-4E5E-AD89-89739ED5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28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89883-B07A-495A-AABE-82A37D96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526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Tree/boosting modeli nisu automatski najbolji na rijetkim tekstualnim vektorima.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79E9A-6949-40BF-A382-F8618726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0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FDBFE-C9C4-4F90-9436-AD46DC8A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24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RandomizedSearchCV je poboljsao Naive Bayes, ali izbor klase modela je vazniji.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0DAB6-808D-46EE-BDA3-8C693FC2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40ED1-601A-48E7-A3A4-B0FCD52A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956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Voting/Stacking je implementiran, ali ne nadmasuje najbolji pojedinacni model.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69E6A1-D618-4170-99F8-C2D85A8D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43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B1EF3-B5A8-4506-AC88-1081D137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67125"/>
            <a:ext cx="866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Predtrenirani transformer daje najbolji ukupni rezultat, ali je dodatak, ne zamjena za zadatak.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82D2A0-8153-462B-B9C4-032A01AB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67300"/>
            <a:ext cx="914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Najvaznija interpretacija: jednostavniji model s pravim prikazom podataka moze biti vrlo konkurentan.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FDA513-D4E7-4E05-8A9F-5E8A2E51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11 / 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04CF8C-6E63-45CC-918D-7DF79FAB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26465686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C90EE8-E91E-49B8-A223-FFB87BA7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9479B-74B2-4DCC-978B-F4DC3E65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805723-6588-4784-9C6B-529BEBD4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Predaja: sto je u repozitoriju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E98D7-85D6-4D8E-A658-C6AAA05C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Primjena umjetne inteligencije | IMDb sentiment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ACFD7-C6A7-443E-B5D1-4798027A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BDF157-17BB-4F0F-8F97-954F1644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1920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Dio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7197D-18ED-42B9-A3B1-9F89FA6C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14300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C9D8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CB301-3461-477B-9B65-D3BBBADF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21920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Putanja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4C405-04EB-4B7B-9821-7978C551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668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EB5D64-589E-4E27-BA52-FF4B9EFC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4305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Kod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C9921-614F-43EB-AA53-A066CA4D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4668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E33C34-33A9-439D-B9B8-BA7AE13C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4305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src/ i classifiers/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3F4809-173B-4847-BA3F-D7D46EB8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217E5-D984-400B-BA7C-0412307B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Podaci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4AEF5-7D72-40A6-BB61-381DD028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79070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5896F4-D25E-44EB-8D9E-F87DFA0A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6690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data/raw/kaggle_imdb_50k i data/raw/stanford_imdb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20AA5B-5F70-4450-8D30-5AA027EE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67FBF1-C8FD-4439-86C7-63042CBD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9075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Rezultati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D9942C-9572-4863-8C18-62377E16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145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0A987-A97B-4F92-B45E-48D469D7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19075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outputs/**/metrics.json + confusion_matrix.json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367D01-8E0B-43AA-936A-45E40FD4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384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46EBB3-B1D0-4AAA-A2E1-35969B14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Izvjestaj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3DEEF5-FD0A-43A7-A9A2-EBD9BC03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3840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FF4761-406A-401D-8633-AE1E0936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1460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reports/final_report/analiza_sentimenta_recenzija.docx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B3E79C-EB91-4792-936C-06CC8446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83697B-5837-487A-9566-7CBB11D7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2038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Prezentacija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4DB360-58B8-45CA-8178-C1100D10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6629DD-95F7-4CDB-9F5A-3DF255E9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38450"/>
            <a:ext cx="7086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presentation/analiza_sentimenta_recenzija.pptx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36436-6A0C-4E21-8E7C-E8113545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923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Glavna naredba za primjer reprodukcije: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CC4BD0-6DC1-4355-8B6B-5FFF63E9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9625"/>
            <a:ext cx="923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A70E32-B1D2-41A8-9F10-7DFDF2A9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2E8F0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E2E8F0"/>
                </a:solidFill>
                <a:latin typeface="Aptos Mono"/>
                <a:ea typeface="Aptos Mono"/>
                <a:cs typeface="Aptos Mono"/>
              </a:rPr>
              <a:t>PYTHONPATH=. python -m classifiers.linear_svc.run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7C21F4-DBD4-4C07-866E-F2E4549B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923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Finalna poruka: zahtjevi su pokriveni, a dodatni transformer dio pokazuje moderni benchmark.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00286A-A4F3-444C-A8F5-3206441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12 / 12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351F83-BF21-4FE4-BC3E-9D8463EA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55320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Evidence: local metrics JSON + course PDF</a:t>
            </a:r>
          </a:p>
        </p:txBody>
      </p:sp>
    </p:spTree>
    <p:extLst>
      <p:ext uri="{BB962C8B-B14F-4D97-AF65-F5344CB8AC3E}">
        <p14:creationId xmlns:p14="http://schemas.microsoft.com/office/powerpoint/2010/main" val="3303385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2026-06-05T11:25:26.4380000Z</dcterms:created>
  <dcterms:modified xsi:type="dcterms:W3CDTF">2026-06-05T11:25:26.4390000Z</dcterms:modified>
</coreProperties>
</file>